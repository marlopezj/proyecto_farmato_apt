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ileron" panose="020B0604020202020204" charset="0"/>
      <p:regular r:id="rId19"/>
    </p:embeddedFont>
    <p:embeddedFont>
      <p:font typeface="Aileron Bold" panose="020B0604020202020204" charset="0"/>
      <p:regular r:id="rId20"/>
    </p:embeddedFont>
    <p:embeddedFont>
      <p:font typeface="Aileron Ultra-Bold" panose="020B0604020202020204" charset="0"/>
      <p:regular r:id="rId21"/>
    </p:embeddedFont>
    <p:embeddedFont>
      <p:font typeface="Snigle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8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2892230" y="-1480811"/>
            <a:ext cx="6550320" cy="13248622"/>
            <a:chOff x="0" y="0"/>
            <a:chExt cx="8733760" cy="17664829"/>
          </a:xfrm>
        </p:grpSpPr>
        <p:sp>
          <p:nvSpPr>
            <p:cNvPr id="3" name="Freeform 3"/>
            <p:cNvSpPr/>
            <p:nvPr/>
          </p:nvSpPr>
          <p:spPr>
            <a:xfrm rot="1419385">
              <a:off x="921936" y="9710623"/>
              <a:ext cx="3989363" cy="4487014"/>
            </a:xfrm>
            <a:custGeom>
              <a:avLst/>
              <a:gdLst/>
              <a:ahLst/>
              <a:cxnLst/>
              <a:rect l="l" t="t" r="r" b="b"/>
              <a:pathLst>
                <a:path w="3989363" h="4487014">
                  <a:moveTo>
                    <a:pt x="0" y="0"/>
                  </a:moveTo>
                  <a:lnTo>
                    <a:pt x="3989363" y="0"/>
                  </a:lnTo>
                  <a:lnTo>
                    <a:pt x="3989363" y="4487014"/>
                  </a:lnTo>
                  <a:lnTo>
                    <a:pt x="0" y="4487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 rot="1419385">
              <a:off x="4011804" y="12565972"/>
              <a:ext cx="3989363" cy="4487014"/>
            </a:xfrm>
            <a:custGeom>
              <a:avLst/>
              <a:gdLst/>
              <a:ahLst/>
              <a:cxnLst/>
              <a:rect l="l" t="t" r="r" b="b"/>
              <a:pathLst>
                <a:path w="3989363" h="4487014">
                  <a:moveTo>
                    <a:pt x="0" y="0"/>
                  </a:moveTo>
                  <a:lnTo>
                    <a:pt x="3989363" y="0"/>
                  </a:lnTo>
                  <a:lnTo>
                    <a:pt x="3989363" y="4487015"/>
                  </a:lnTo>
                  <a:lnTo>
                    <a:pt x="0" y="4487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 rot="5118413">
              <a:off x="1439366" y="4759818"/>
              <a:ext cx="3989363" cy="4487014"/>
            </a:xfrm>
            <a:custGeom>
              <a:avLst/>
              <a:gdLst/>
              <a:ahLst/>
              <a:cxnLst/>
              <a:rect l="l" t="t" r="r" b="b"/>
              <a:pathLst>
                <a:path w="3989363" h="4487014">
                  <a:moveTo>
                    <a:pt x="0" y="0"/>
                  </a:moveTo>
                  <a:lnTo>
                    <a:pt x="3989363" y="0"/>
                  </a:lnTo>
                  <a:lnTo>
                    <a:pt x="3989363" y="4487014"/>
                  </a:lnTo>
                  <a:lnTo>
                    <a:pt x="0" y="4487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 rot="-2079671">
              <a:off x="921936" y="736264"/>
              <a:ext cx="3989363" cy="4487014"/>
            </a:xfrm>
            <a:custGeom>
              <a:avLst/>
              <a:gdLst/>
              <a:ahLst/>
              <a:cxnLst/>
              <a:rect l="l" t="t" r="r" b="b"/>
              <a:pathLst>
                <a:path w="3989363" h="4487014">
                  <a:moveTo>
                    <a:pt x="0" y="0"/>
                  </a:moveTo>
                  <a:lnTo>
                    <a:pt x="3989363" y="0"/>
                  </a:lnTo>
                  <a:lnTo>
                    <a:pt x="3989363" y="4487014"/>
                  </a:lnTo>
                  <a:lnTo>
                    <a:pt x="0" y="4487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173599"/>
            <a:ext cx="5955540" cy="1466552"/>
          </a:xfrm>
          <a:custGeom>
            <a:avLst/>
            <a:gdLst/>
            <a:ahLst/>
            <a:cxnLst/>
            <a:rect l="l" t="t" r="r" b="b"/>
            <a:pathLst>
              <a:path w="5955540" h="1466552">
                <a:moveTo>
                  <a:pt x="0" y="0"/>
                </a:moveTo>
                <a:lnTo>
                  <a:pt x="5955540" y="0"/>
                </a:lnTo>
                <a:lnTo>
                  <a:pt x="5955540" y="1466552"/>
                </a:lnTo>
                <a:lnTo>
                  <a:pt x="0" y="1466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028700" y="2860193"/>
            <a:ext cx="4767392" cy="99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5"/>
              </a:lnSpc>
            </a:pPr>
            <a:r>
              <a:rPr lang="en-US" sz="7662" b="1" spc="-229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FARMATO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429826"/>
            <a:ext cx="3205958" cy="927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87"/>
              </a:lnSpc>
            </a:pPr>
            <a:r>
              <a:rPr lang="en-US" sz="7599" b="1" spc="-227">
                <a:solidFill>
                  <a:srgbClr val="2FC48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/2025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658118"/>
            <a:ext cx="4808034" cy="49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6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PROYECTO APT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45323" y="9409011"/>
            <a:ext cx="6256172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 b="1">
                <a:solidFill>
                  <a:srgbClr val="3591DD"/>
                </a:solidFill>
                <a:latin typeface="Aileron Bold"/>
                <a:ea typeface="Aileron Bold"/>
                <a:cs typeface="Aileron Bold"/>
                <a:sym typeface="Aileron Bold"/>
              </a:rPr>
              <a:t>FECHA: 05-12-2025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5323" y="8415020"/>
            <a:ext cx="6256172" cy="84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 b="1">
                <a:solidFill>
                  <a:srgbClr val="3591DD"/>
                </a:solidFill>
                <a:latin typeface="Aileron Bold"/>
                <a:ea typeface="Aileron Bold"/>
                <a:cs typeface="Aileron Bold"/>
                <a:sym typeface="Aileron Bold"/>
              </a:rPr>
              <a:t>PROFESOR: CEFERINO ANIBAL SOTELO BECERRA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7169" y="1515097"/>
            <a:ext cx="12624520" cy="1981200"/>
            <a:chOff x="0" y="0"/>
            <a:chExt cx="3324977" cy="5217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24977" cy="521798"/>
            </a:xfrm>
            <a:custGeom>
              <a:avLst/>
              <a:gdLst/>
              <a:ahLst/>
              <a:cxnLst/>
              <a:rect l="l" t="t" r="r" b="b"/>
              <a:pathLst>
                <a:path w="3324977" h="521798">
                  <a:moveTo>
                    <a:pt x="0" y="0"/>
                  </a:moveTo>
                  <a:lnTo>
                    <a:pt x="3324977" y="0"/>
                  </a:lnTo>
                  <a:lnTo>
                    <a:pt x="3324977" y="521798"/>
                  </a:lnTo>
                  <a:lnTo>
                    <a:pt x="0" y="521798"/>
                  </a:lnTo>
                  <a:close/>
                </a:path>
              </a:pathLst>
            </a:custGeom>
            <a:solidFill>
              <a:srgbClr val="00B6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24977" cy="569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José Rojas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Cargo: 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Encargado de Scraper y datos.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Funciones: 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Recolección de información de medicamentos desde farmacias online.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9741" y="3762997"/>
            <a:ext cx="12730231" cy="1925134"/>
            <a:chOff x="0" y="0"/>
            <a:chExt cx="3352818" cy="507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52818" cy="507031"/>
            </a:xfrm>
            <a:custGeom>
              <a:avLst/>
              <a:gdLst/>
              <a:ahLst/>
              <a:cxnLst/>
              <a:rect l="l" t="t" r="r" b="b"/>
              <a:pathLst>
                <a:path w="3352818" h="507031">
                  <a:moveTo>
                    <a:pt x="0" y="0"/>
                  </a:moveTo>
                  <a:lnTo>
                    <a:pt x="3352818" y="0"/>
                  </a:lnTo>
                  <a:lnTo>
                    <a:pt x="3352818" y="507031"/>
                  </a:lnTo>
                  <a:lnTo>
                    <a:pt x="0" y="507031"/>
                  </a:lnTo>
                  <a:close/>
                </a:path>
              </a:pathLst>
            </a:custGeom>
            <a:solidFill>
              <a:srgbClr val="00B6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352818" cy="554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Martín López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Cargo: 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Encargado de Base de Datos y Frontend.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Funciones: 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Diseño del modelo de datos y construcción de la interfaz web.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10554" y="5954831"/>
            <a:ext cx="12677376" cy="1819423"/>
            <a:chOff x="0" y="0"/>
            <a:chExt cx="3338897" cy="4791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8897" cy="479190"/>
            </a:xfrm>
            <a:custGeom>
              <a:avLst/>
              <a:gdLst/>
              <a:ahLst/>
              <a:cxnLst/>
              <a:rect l="l" t="t" r="r" b="b"/>
              <a:pathLst>
                <a:path w="3338897" h="479190">
                  <a:moveTo>
                    <a:pt x="0" y="0"/>
                  </a:moveTo>
                  <a:lnTo>
                    <a:pt x="3338897" y="0"/>
                  </a:lnTo>
                  <a:lnTo>
                    <a:pt x="3338897" y="479190"/>
                  </a:lnTo>
                  <a:lnTo>
                    <a:pt x="0" y="479190"/>
                  </a:lnTo>
                  <a:close/>
                </a:path>
              </a:pathLst>
            </a:custGeom>
            <a:solidFill>
              <a:srgbClr val="00B6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338897" cy="52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Marcelo Saavedra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Cargo: 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Desarrollador Backend.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Funciones: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Implementación de lógica del sistema.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2396" y="8040955"/>
            <a:ext cx="12677376" cy="1981200"/>
            <a:chOff x="0" y="0"/>
            <a:chExt cx="3338897" cy="5217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38897" cy="521798"/>
            </a:xfrm>
            <a:custGeom>
              <a:avLst/>
              <a:gdLst/>
              <a:ahLst/>
              <a:cxnLst/>
              <a:rect l="l" t="t" r="r" b="b"/>
              <a:pathLst>
                <a:path w="3338897" h="521798">
                  <a:moveTo>
                    <a:pt x="0" y="0"/>
                  </a:moveTo>
                  <a:lnTo>
                    <a:pt x="3338897" y="0"/>
                  </a:lnTo>
                  <a:lnTo>
                    <a:pt x="3338897" y="521798"/>
                  </a:lnTo>
                  <a:lnTo>
                    <a:pt x="0" y="521798"/>
                  </a:lnTo>
                  <a:close/>
                </a:path>
              </a:pathLst>
            </a:custGeom>
            <a:solidFill>
              <a:srgbClr val="00B6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338897" cy="569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Pablo Loaiza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Cargo: 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QA.</a:t>
              </a:r>
            </a:p>
            <a:p>
              <a:pPr marL="566736" lvl="1" indent="-283368" algn="l">
                <a:lnSpc>
                  <a:spcPts val="3674"/>
                </a:lnSpc>
                <a:buFont typeface="Arial"/>
                <a:buChar char="•"/>
              </a:pPr>
              <a:r>
                <a:rPr lang="en-US" sz="2624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Funciones:</a:t>
              </a:r>
              <a:r>
                <a:rPr lang="en-US" sz="262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 Encargado de realizar pruebas funcionales, usabilidad, y asegurar el correcto funcionamiento del sistema.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273891" y="371475"/>
            <a:ext cx="9195424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b="1" spc="-150">
                <a:solidFill>
                  <a:srgbClr val="00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INTEGRANTES DEL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573172">
            <a:off x="-467302" y="7217909"/>
            <a:ext cx="4534433" cy="7128903"/>
            <a:chOff x="0" y="0"/>
            <a:chExt cx="5671566" cy="8916670"/>
          </a:xfrm>
        </p:grpSpPr>
        <p:sp>
          <p:nvSpPr>
            <p:cNvPr id="3" name="Freeform 3"/>
            <p:cNvSpPr/>
            <p:nvPr/>
          </p:nvSpPr>
          <p:spPr>
            <a:xfrm>
              <a:off x="155575" y="155575"/>
              <a:ext cx="5360416" cy="8605520"/>
            </a:xfrm>
            <a:custGeom>
              <a:avLst/>
              <a:gdLst/>
              <a:ahLst/>
              <a:cxnLst/>
              <a:rect l="l" t="t" r="r" b="b"/>
              <a:pathLst>
                <a:path w="5360416" h="8605520">
                  <a:moveTo>
                    <a:pt x="0" y="8605520"/>
                  </a:moveTo>
                  <a:lnTo>
                    <a:pt x="0" y="2626995"/>
                  </a:lnTo>
                  <a:cubicBezTo>
                    <a:pt x="13970" y="1525270"/>
                    <a:pt x="732790" y="529336"/>
                    <a:pt x="1788668" y="148971"/>
                  </a:cubicBezTo>
                  <a:cubicBezTo>
                    <a:pt x="1793240" y="147701"/>
                    <a:pt x="1800860" y="145542"/>
                    <a:pt x="1809877" y="141859"/>
                  </a:cubicBezTo>
                  <a:cubicBezTo>
                    <a:pt x="2089658" y="47879"/>
                    <a:pt x="2382393" y="0"/>
                    <a:pt x="2678684" y="0"/>
                  </a:cubicBezTo>
                  <a:lnTo>
                    <a:pt x="2681732" y="0"/>
                  </a:lnTo>
                  <a:cubicBezTo>
                    <a:pt x="2978150" y="0"/>
                    <a:pt x="3270758" y="47879"/>
                    <a:pt x="3550539" y="141859"/>
                  </a:cubicBezTo>
                  <a:cubicBezTo>
                    <a:pt x="3559556" y="145542"/>
                    <a:pt x="3567176" y="147701"/>
                    <a:pt x="3571748" y="148971"/>
                  </a:cubicBezTo>
                  <a:cubicBezTo>
                    <a:pt x="4627626" y="529209"/>
                    <a:pt x="5346319" y="1525143"/>
                    <a:pt x="5360416" y="2626995"/>
                  </a:cubicBezTo>
                  <a:lnTo>
                    <a:pt x="5360416" y="8605520"/>
                  </a:lnTo>
                  <a:lnTo>
                    <a:pt x="0" y="8605520"/>
                  </a:lnTo>
                  <a:close/>
                </a:path>
              </a:pathLst>
            </a:custGeom>
            <a:blipFill>
              <a:blip r:embed="rId2"/>
              <a:stretch>
                <a:fillRect l="-3512" r="-3512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" y="6350"/>
              <a:ext cx="5658866" cy="8903970"/>
            </a:xfrm>
            <a:custGeom>
              <a:avLst/>
              <a:gdLst/>
              <a:ahLst/>
              <a:cxnLst/>
              <a:rect l="l" t="t" r="r" b="b"/>
              <a:pathLst>
                <a:path w="5658866" h="8903970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E9FC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-9995510">
            <a:off x="15225982" y="-1658422"/>
            <a:ext cx="3418360" cy="5374245"/>
            <a:chOff x="0" y="0"/>
            <a:chExt cx="5671566" cy="8916670"/>
          </a:xfrm>
        </p:grpSpPr>
        <p:sp>
          <p:nvSpPr>
            <p:cNvPr id="6" name="Freeform 6"/>
            <p:cNvSpPr/>
            <p:nvPr/>
          </p:nvSpPr>
          <p:spPr>
            <a:xfrm rot="-10800000">
              <a:off x="155575" y="155575"/>
              <a:ext cx="5360416" cy="8605520"/>
            </a:xfrm>
            <a:custGeom>
              <a:avLst/>
              <a:gdLst/>
              <a:ahLst/>
              <a:cxnLst/>
              <a:rect l="l" t="t" r="r" b="b"/>
              <a:pathLst>
                <a:path w="5360416" h="8605520">
                  <a:moveTo>
                    <a:pt x="5360416" y="0"/>
                  </a:moveTo>
                  <a:lnTo>
                    <a:pt x="5360416" y="5978525"/>
                  </a:lnTo>
                  <a:cubicBezTo>
                    <a:pt x="5346446" y="7080250"/>
                    <a:pt x="4627626" y="8076184"/>
                    <a:pt x="3571748" y="8456549"/>
                  </a:cubicBezTo>
                  <a:cubicBezTo>
                    <a:pt x="3567176" y="8457819"/>
                    <a:pt x="3559556" y="8459978"/>
                    <a:pt x="3550539" y="8463661"/>
                  </a:cubicBezTo>
                  <a:cubicBezTo>
                    <a:pt x="3270758" y="8557641"/>
                    <a:pt x="2978023" y="8605520"/>
                    <a:pt x="2681732" y="8605520"/>
                  </a:cubicBezTo>
                  <a:lnTo>
                    <a:pt x="2678684" y="8605520"/>
                  </a:lnTo>
                  <a:cubicBezTo>
                    <a:pt x="2382266" y="8605520"/>
                    <a:pt x="2089658" y="8557641"/>
                    <a:pt x="1809877" y="8463661"/>
                  </a:cubicBezTo>
                  <a:cubicBezTo>
                    <a:pt x="1800860" y="8459978"/>
                    <a:pt x="1793240" y="8457819"/>
                    <a:pt x="1788668" y="8456549"/>
                  </a:cubicBezTo>
                  <a:cubicBezTo>
                    <a:pt x="732790" y="8076311"/>
                    <a:pt x="14097" y="7080377"/>
                    <a:pt x="0" y="5978525"/>
                  </a:cubicBezTo>
                  <a:lnTo>
                    <a:pt x="0" y="0"/>
                  </a:lnTo>
                  <a:lnTo>
                    <a:pt x="5360416" y="0"/>
                  </a:lnTo>
                  <a:close/>
                </a:path>
              </a:pathLst>
            </a:custGeom>
            <a:blipFill>
              <a:blip r:embed="rId3"/>
              <a:stretch>
                <a:fillRect l="-123566" t="-36716" r="-105830" b="-11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" y="6350"/>
              <a:ext cx="5658866" cy="8903970"/>
            </a:xfrm>
            <a:custGeom>
              <a:avLst/>
              <a:gdLst/>
              <a:ahLst/>
              <a:cxnLst/>
              <a:rect l="l" t="t" r="r" b="b"/>
              <a:pathLst>
                <a:path w="5658866" h="8903970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E9FC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95574" y="654819"/>
            <a:ext cx="8178785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b="1" spc="-150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PROBLEMÁTICA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95574" y="2464687"/>
            <a:ext cx="11453335" cy="90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 b="1" spc="-107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GRAN DIFERENCIA EN LOS PRECIOS DE MEDICAMENTOS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99915" y="205874"/>
            <a:ext cx="1286311" cy="1387860"/>
            <a:chOff x="0" y="0"/>
            <a:chExt cx="876302" cy="9454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9915" y="688781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5574" y="3803198"/>
            <a:ext cx="10455002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El mismo medicamento puede tener precios muy </a:t>
            </a:r>
            <a:r>
              <a:rPr lang="en-US" sz="2000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distintos entre farmacias.</a:t>
            </a:r>
          </a:p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Los usuarios no tienen forma simple de comparar precios.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95574" y="5943148"/>
            <a:ext cx="11453335" cy="471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 b="1" spc="-107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INFORMACIÓN DISPERSA Y DIFÍCIL DE ENCONTRAR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95574" y="7038302"/>
            <a:ext cx="10455002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Los datos sobre medicamentos,y precios están repartidos en </a:t>
            </a:r>
            <a:r>
              <a:rPr lang="en-US" sz="2000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múltiples sitios</a:t>
            </a: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El usuario debe revisar farmacia por farmacia o buscar manualmente.</a:t>
            </a:r>
          </a:p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Las soluciones existentes se limitan a grupos de farmacias con un sitio web.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573172">
            <a:off x="14834534" y="5536556"/>
            <a:ext cx="4534433" cy="7128903"/>
            <a:chOff x="0" y="0"/>
            <a:chExt cx="5671566" cy="8916670"/>
          </a:xfrm>
        </p:grpSpPr>
        <p:sp>
          <p:nvSpPr>
            <p:cNvPr id="3" name="Freeform 3"/>
            <p:cNvSpPr/>
            <p:nvPr/>
          </p:nvSpPr>
          <p:spPr>
            <a:xfrm>
              <a:off x="155575" y="155575"/>
              <a:ext cx="5360416" cy="8605520"/>
            </a:xfrm>
            <a:custGeom>
              <a:avLst/>
              <a:gdLst/>
              <a:ahLst/>
              <a:cxnLst/>
              <a:rect l="l" t="t" r="r" b="b"/>
              <a:pathLst>
                <a:path w="5360416" h="8605520">
                  <a:moveTo>
                    <a:pt x="0" y="8605520"/>
                  </a:moveTo>
                  <a:lnTo>
                    <a:pt x="0" y="2626995"/>
                  </a:lnTo>
                  <a:cubicBezTo>
                    <a:pt x="13970" y="1525270"/>
                    <a:pt x="732790" y="529336"/>
                    <a:pt x="1788668" y="148971"/>
                  </a:cubicBezTo>
                  <a:cubicBezTo>
                    <a:pt x="1793240" y="147701"/>
                    <a:pt x="1800860" y="145542"/>
                    <a:pt x="1809877" y="141859"/>
                  </a:cubicBezTo>
                  <a:cubicBezTo>
                    <a:pt x="2089658" y="47879"/>
                    <a:pt x="2382393" y="0"/>
                    <a:pt x="2678684" y="0"/>
                  </a:cubicBezTo>
                  <a:lnTo>
                    <a:pt x="2681732" y="0"/>
                  </a:lnTo>
                  <a:cubicBezTo>
                    <a:pt x="2978150" y="0"/>
                    <a:pt x="3270758" y="47879"/>
                    <a:pt x="3550539" y="141859"/>
                  </a:cubicBezTo>
                  <a:cubicBezTo>
                    <a:pt x="3559556" y="145542"/>
                    <a:pt x="3567176" y="147701"/>
                    <a:pt x="3571748" y="148971"/>
                  </a:cubicBezTo>
                  <a:cubicBezTo>
                    <a:pt x="4627626" y="529209"/>
                    <a:pt x="5346319" y="1525143"/>
                    <a:pt x="5360416" y="2626995"/>
                  </a:cubicBezTo>
                  <a:lnTo>
                    <a:pt x="5360416" y="8605520"/>
                  </a:lnTo>
                  <a:lnTo>
                    <a:pt x="0" y="8605520"/>
                  </a:lnTo>
                  <a:close/>
                </a:path>
              </a:pathLst>
            </a:custGeom>
            <a:blipFill>
              <a:blip r:embed="rId2"/>
              <a:stretch>
                <a:fillRect l="-3512" r="-3512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" y="6350"/>
              <a:ext cx="5658866" cy="8903970"/>
            </a:xfrm>
            <a:custGeom>
              <a:avLst/>
              <a:gdLst/>
              <a:ahLst/>
              <a:cxnLst/>
              <a:rect l="l" t="t" r="r" b="b"/>
              <a:pathLst>
                <a:path w="5658866" h="8903970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E9FC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-9995510">
            <a:off x="-2194965" y="-835597"/>
            <a:ext cx="3418360" cy="5374245"/>
            <a:chOff x="0" y="0"/>
            <a:chExt cx="5671566" cy="8916670"/>
          </a:xfrm>
        </p:grpSpPr>
        <p:sp>
          <p:nvSpPr>
            <p:cNvPr id="6" name="Freeform 6"/>
            <p:cNvSpPr/>
            <p:nvPr/>
          </p:nvSpPr>
          <p:spPr>
            <a:xfrm rot="-10800000">
              <a:off x="155575" y="155575"/>
              <a:ext cx="5360416" cy="8605520"/>
            </a:xfrm>
            <a:custGeom>
              <a:avLst/>
              <a:gdLst/>
              <a:ahLst/>
              <a:cxnLst/>
              <a:rect l="l" t="t" r="r" b="b"/>
              <a:pathLst>
                <a:path w="5360416" h="8605520">
                  <a:moveTo>
                    <a:pt x="5360416" y="0"/>
                  </a:moveTo>
                  <a:lnTo>
                    <a:pt x="5360416" y="5978525"/>
                  </a:lnTo>
                  <a:cubicBezTo>
                    <a:pt x="5346446" y="7080250"/>
                    <a:pt x="4627626" y="8076184"/>
                    <a:pt x="3571748" y="8456549"/>
                  </a:cubicBezTo>
                  <a:cubicBezTo>
                    <a:pt x="3567176" y="8457819"/>
                    <a:pt x="3559556" y="8459978"/>
                    <a:pt x="3550539" y="8463661"/>
                  </a:cubicBezTo>
                  <a:cubicBezTo>
                    <a:pt x="3270758" y="8557641"/>
                    <a:pt x="2978023" y="8605520"/>
                    <a:pt x="2681732" y="8605520"/>
                  </a:cubicBezTo>
                  <a:lnTo>
                    <a:pt x="2678684" y="8605520"/>
                  </a:lnTo>
                  <a:cubicBezTo>
                    <a:pt x="2382266" y="8605520"/>
                    <a:pt x="2089658" y="8557641"/>
                    <a:pt x="1809877" y="8463661"/>
                  </a:cubicBezTo>
                  <a:cubicBezTo>
                    <a:pt x="1800860" y="8459978"/>
                    <a:pt x="1793240" y="8457819"/>
                    <a:pt x="1788668" y="8456549"/>
                  </a:cubicBezTo>
                  <a:cubicBezTo>
                    <a:pt x="732790" y="8076311"/>
                    <a:pt x="14097" y="7080377"/>
                    <a:pt x="0" y="5978525"/>
                  </a:cubicBezTo>
                  <a:lnTo>
                    <a:pt x="0" y="0"/>
                  </a:lnTo>
                  <a:lnTo>
                    <a:pt x="5360416" y="0"/>
                  </a:lnTo>
                  <a:close/>
                </a:path>
              </a:pathLst>
            </a:custGeom>
            <a:blipFill>
              <a:blip r:embed="rId3"/>
              <a:stretch>
                <a:fillRect l="-123566" t="-36716" r="-105830" b="-11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" y="6350"/>
              <a:ext cx="5658866" cy="8903970"/>
            </a:xfrm>
            <a:custGeom>
              <a:avLst/>
              <a:gdLst/>
              <a:ahLst/>
              <a:cxnLst/>
              <a:rect l="l" t="t" r="r" b="b"/>
              <a:pathLst>
                <a:path w="5658866" h="8903970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E9FC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95574" y="654819"/>
            <a:ext cx="8178785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b="1" spc="-150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PROPUESTA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95574" y="2464687"/>
            <a:ext cx="11453335" cy="90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 b="1" spc="-107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CREAR UNA PLATAFORMA CENTRALIZADA DE INFORMACIÓN FARMACÉUTICA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99915" y="205874"/>
            <a:ext cx="1286311" cy="1387860"/>
            <a:chOff x="0" y="0"/>
            <a:chExt cx="876302" cy="9454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9915" y="688781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5574" y="3803198"/>
            <a:ext cx="10455002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Un sistema que reúna precios, presentaciones, laboratorios y descripciones en un solo lugar.</a:t>
            </a:r>
          </a:p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Interfaz clara</a:t>
            </a: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 y fácil de usar para todo tipo de usuarios.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95574" y="5943148"/>
            <a:ext cx="11453335" cy="471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 b="1" spc="-107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COMPARACIÓN SIMPLE Y RÁPIDA DE PRECIOS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95574" y="7038302"/>
            <a:ext cx="10455002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Mostrar de forma transparente los</a:t>
            </a:r>
            <a:r>
              <a:rPr lang="en-US" sz="2000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 precios por farmacia.</a:t>
            </a:r>
          </a:p>
          <a:p>
            <a:pPr marL="431804" lvl="1" indent="-215902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Facilitar que el usuario tome decisiones informadas sin perder tiempo.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5544" y="395567"/>
            <a:ext cx="1286311" cy="1387860"/>
            <a:chOff x="0" y="0"/>
            <a:chExt cx="876302" cy="945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232360" y="3376500"/>
            <a:ext cx="10363802" cy="6619879"/>
          </a:xfrm>
          <a:custGeom>
            <a:avLst/>
            <a:gdLst/>
            <a:ahLst/>
            <a:cxnLst/>
            <a:rect l="l" t="t" r="r" b="b"/>
            <a:pathLst>
              <a:path w="10363802" h="6619879">
                <a:moveTo>
                  <a:pt x="0" y="0"/>
                </a:moveTo>
                <a:lnTo>
                  <a:pt x="10363802" y="0"/>
                </a:lnTo>
                <a:lnTo>
                  <a:pt x="10363802" y="6619879"/>
                </a:lnTo>
                <a:lnTo>
                  <a:pt x="0" y="6619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2318133" y="568800"/>
            <a:ext cx="11212131" cy="64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5062" b="1" spc="-151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 GENERAL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67123" y="1666971"/>
            <a:ext cx="13062894" cy="128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2445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Desarrollar una plataforma web que permita administrar, consultar y comparar información de medicamentos</a:t>
            </a:r>
            <a:r>
              <a:rPr lang="en-US" sz="2445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, con el fin de ofrecer a los usuarios datos claros, centralizados y confiables para una mejor toma de decisiones.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5544" y="878473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/3</a:t>
            </a:r>
          </a:p>
        </p:txBody>
      </p:sp>
      <p:sp>
        <p:nvSpPr>
          <p:cNvPr id="9" name="Freeform 9"/>
          <p:cNvSpPr/>
          <p:nvPr/>
        </p:nvSpPr>
        <p:spPr>
          <a:xfrm>
            <a:off x="385544" y="8219609"/>
            <a:ext cx="3142196" cy="1776769"/>
          </a:xfrm>
          <a:custGeom>
            <a:avLst/>
            <a:gdLst/>
            <a:ahLst/>
            <a:cxnLst/>
            <a:rect l="l" t="t" r="r" b="b"/>
            <a:pathLst>
              <a:path w="3142196" h="1776769">
                <a:moveTo>
                  <a:pt x="0" y="0"/>
                </a:moveTo>
                <a:lnTo>
                  <a:pt x="3142197" y="0"/>
                </a:lnTo>
                <a:lnTo>
                  <a:pt x="3142197" y="1776770"/>
                </a:lnTo>
                <a:lnTo>
                  <a:pt x="0" y="1776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2006" y="924936"/>
            <a:ext cx="1047259" cy="1129935"/>
            <a:chOff x="0" y="0"/>
            <a:chExt cx="876302" cy="945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15389" y="1086047"/>
            <a:ext cx="6658813" cy="125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070" b="1" spc="-152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OBJETIVOS ESPECIFICOS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2006" y="1303432"/>
            <a:ext cx="1047259" cy="75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</a:pPr>
            <a:r>
              <a:rPr lang="en-US" sz="6076" b="1" spc="-182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6794" y="4074912"/>
            <a:ext cx="4180057" cy="9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Centralizar información farmacéutica</a:t>
            </a:r>
            <a:r>
              <a:rPr lang="en-US" sz="1828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 en una base de datos estructurada y estandarizada.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06794" y="6122995"/>
            <a:ext cx="5152620" cy="9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Implementar un panel administrativo que permita realizar CRUD de medicamentos, presentaciones, laboratorios, principios activos y farmacias.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06794" y="8315945"/>
            <a:ext cx="4180057" cy="63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Que los precios mostrados en la web sean los que se vean en las farmacias.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48800" y="4117118"/>
            <a:ext cx="4180057" cy="9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Mostrar comparaciones </a:t>
            </a:r>
            <a:r>
              <a:rPr lang="en-US" sz="1828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de precios entre farmacias para un mismo medicamento.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36023" y="5635951"/>
            <a:ext cx="581508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2. ADMINISTRAR LAS TABLAS EN UN CRUD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36023" y="3601498"/>
            <a:ext cx="4898339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1. CENTRALIZAR LA INFORMACIÓN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36023" y="7724125"/>
            <a:ext cx="646097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3. MANTENER UN REGISTRO ACTUALIZADO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8029" y="3601498"/>
            <a:ext cx="552339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4. COMPARAR LOS PRECIOS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48800" y="6056453"/>
            <a:ext cx="5152620" cy="9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Que el usuario registrado tenga a la mano un </a:t>
            </a:r>
            <a:r>
              <a:rPr lang="en-US" sz="1828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catalogo </a:t>
            </a:r>
            <a:r>
              <a:rPr lang="en-US" sz="1828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simple de los medicamentos que este vea necesario.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8029" y="5569664"/>
            <a:ext cx="581508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5. GUARDAR MEDICAMENTOS</a:t>
            </a:r>
          </a:p>
        </p:txBody>
      </p:sp>
      <p:sp>
        <p:nvSpPr>
          <p:cNvPr id="17" name="Freeform 17"/>
          <p:cNvSpPr/>
          <p:nvPr/>
        </p:nvSpPr>
        <p:spPr>
          <a:xfrm rot="-1826676">
            <a:off x="14597966" y="477659"/>
            <a:ext cx="3333290" cy="2315121"/>
          </a:xfrm>
          <a:custGeom>
            <a:avLst/>
            <a:gdLst/>
            <a:ahLst/>
            <a:cxnLst/>
            <a:rect l="l" t="t" r="r" b="b"/>
            <a:pathLst>
              <a:path w="3333290" h="2315121">
                <a:moveTo>
                  <a:pt x="0" y="0"/>
                </a:moveTo>
                <a:lnTo>
                  <a:pt x="3333290" y="0"/>
                </a:lnTo>
                <a:lnTo>
                  <a:pt x="3333290" y="2315122"/>
                </a:lnTo>
                <a:lnTo>
                  <a:pt x="0" y="2315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5544" y="395567"/>
            <a:ext cx="1286311" cy="1387860"/>
            <a:chOff x="0" y="0"/>
            <a:chExt cx="876302" cy="945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-705028"/>
            <a:ext cx="10363802" cy="11889336"/>
            <a:chOff x="0" y="0"/>
            <a:chExt cx="2729561" cy="31313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9561" cy="3131348"/>
            </a:xfrm>
            <a:custGeom>
              <a:avLst/>
              <a:gdLst/>
              <a:ahLst/>
              <a:cxnLst/>
              <a:rect l="l" t="t" r="r" b="b"/>
              <a:pathLst>
                <a:path w="2729561" h="3131348">
                  <a:moveTo>
                    <a:pt x="0" y="0"/>
                  </a:moveTo>
                  <a:lnTo>
                    <a:pt x="2729561" y="0"/>
                  </a:lnTo>
                  <a:lnTo>
                    <a:pt x="2729561" y="3131348"/>
                  </a:lnTo>
                  <a:lnTo>
                    <a:pt x="0" y="3131348"/>
                  </a:lnTo>
                  <a:close/>
                </a:path>
              </a:pathLst>
            </a:custGeom>
            <a:solidFill>
              <a:srgbClr val="11B2B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29561" cy="3188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91095" y="1897726"/>
            <a:ext cx="3440799" cy="64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5062" b="1" spc="-151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ALCANCE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8625" y="3249551"/>
            <a:ext cx="6425738" cy="357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620" lvl="1" indent="-274810" algn="just">
              <a:lnSpc>
                <a:spcPts val="3564"/>
              </a:lnSpc>
              <a:buFont typeface="Arial"/>
              <a:buChar char="•"/>
            </a:pPr>
            <a:r>
              <a:rPr lang="en-US" sz="2545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Centralizar la información de medicamentos</a:t>
            </a:r>
            <a:r>
              <a:rPr lang="en-US" sz="2545" b="1">
                <a:solidFill>
                  <a:srgbClr val="3591D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545">
                <a:solidFill>
                  <a:srgbClr val="3591DD"/>
                </a:solidFill>
                <a:latin typeface="Aileron"/>
                <a:ea typeface="Aileron"/>
                <a:cs typeface="Aileron"/>
                <a:sym typeface="Aileron"/>
              </a:rPr>
              <a:t>en un solo lugar.</a:t>
            </a:r>
          </a:p>
          <a:p>
            <a:pPr algn="just">
              <a:lnSpc>
                <a:spcPts val="3564"/>
              </a:lnSpc>
            </a:pPr>
            <a:endParaRPr lang="en-US" sz="2545">
              <a:solidFill>
                <a:srgbClr val="3591DD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marL="549620" lvl="1" indent="-274810" algn="just">
              <a:lnSpc>
                <a:spcPts val="3564"/>
              </a:lnSpc>
              <a:buFont typeface="Arial"/>
              <a:buChar char="•"/>
            </a:pPr>
            <a:r>
              <a:rPr lang="en-US" sz="2545" b="1">
                <a:solidFill>
                  <a:srgbClr val="343598"/>
                </a:solidFill>
                <a:latin typeface="Aileron Bold"/>
                <a:ea typeface="Aileron Bold"/>
                <a:cs typeface="Aileron Bold"/>
                <a:sym typeface="Aileron Bold"/>
              </a:rPr>
              <a:t>Mostrar diferencias de precios entre farmacias.</a:t>
            </a:r>
            <a:r>
              <a:rPr lang="en-US" sz="2545">
                <a:solidFill>
                  <a:srgbClr val="3591DD"/>
                </a:solidFill>
                <a:latin typeface="Aileron"/>
                <a:ea typeface="Aileron"/>
                <a:cs typeface="Aileron"/>
                <a:sym typeface="Aileron"/>
              </a:rPr>
              <a:t> para que el usuario pueda identificar dónde le conviene comprar.</a:t>
            </a:r>
          </a:p>
          <a:p>
            <a:pPr algn="just">
              <a:lnSpc>
                <a:spcPts val="3564"/>
              </a:lnSpc>
            </a:pPr>
            <a:endParaRPr lang="en-US" sz="2545">
              <a:solidFill>
                <a:srgbClr val="3591DD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just">
              <a:lnSpc>
                <a:spcPts val="3564"/>
              </a:lnSpc>
            </a:pPr>
            <a:endParaRPr lang="en-US" sz="2545">
              <a:solidFill>
                <a:srgbClr val="3591DD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5544" y="878473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0240" y="1897726"/>
            <a:ext cx="5171322" cy="64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5062" b="1" spc="-151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LIMITACIONES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35274" y="3249551"/>
            <a:ext cx="6824026" cy="446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620" lvl="1" indent="-274810" algn="just">
              <a:lnSpc>
                <a:spcPts val="3564"/>
              </a:lnSpc>
              <a:buFont typeface="Arial"/>
              <a:buChar char="•"/>
            </a:pPr>
            <a:r>
              <a:rPr lang="en-US" sz="254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No se realizan ventas dentro del sitio web,</a:t>
            </a:r>
            <a:r>
              <a:rPr lang="en-US" sz="254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el usuario solo consulta información.</a:t>
            </a:r>
          </a:p>
          <a:p>
            <a:pPr algn="just">
              <a:lnSpc>
                <a:spcPts val="3564"/>
              </a:lnSpc>
            </a:pPr>
            <a:endParaRPr lang="en-US" sz="2545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marL="549620" lvl="1" indent="-274810" algn="just">
              <a:lnSpc>
                <a:spcPts val="3564"/>
              </a:lnSpc>
              <a:buFont typeface="Arial"/>
              <a:buChar char="•"/>
            </a:pPr>
            <a:r>
              <a:rPr lang="en-US" sz="254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Actualmente el sistema solo gestiona medicamentos y precios de farmacias reconocidas de Chile, incluyendo: Cruz Verde, Farmacias Ahumada, Dr. Simi y Salcobrand.</a:t>
            </a:r>
          </a:p>
          <a:p>
            <a:pPr algn="just">
              <a:lnSpc>
                <a:spcPts val="3564"/>
              </a:lnSpc>
            </a:pPr>
            <a:endParaRPr lang="en-US" sz="2545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just">
              <a:lnSpc>
                <a:spcPts val="3564"/>
              </a:lnSpc>
            </a:pPr>
            <a:endParaRPr lang="en-US" sz="2545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5001514">
            <a:off x="9266711" y="-600431"/>
            <a:ext cx="3061594" cy="4813349"/>
            <a:chOff x="0" y="0"/>
            <a:chExt cx="5671566" cy="8916670"/>
          </a:xfrm>
        </p:grpSpPr>
        <p:sp>
          <p:nvSpPr>
            <p:cNvPr id="3" name="Freeform 3"/>
            <p:cNvSpPr/>
            <p:nvPr/>
          </p:nvSpPr>
          <p:spPr>
            <a:xfrm rot="5331331">
              <a:off x="-1466697" y="1745124"/>
              <a:ext cx="8657914" cy="5478825"/>
            </a:xfrm>
            <a:custGeom>
              <a:avLst/>
              <a:gdLst/>
              <a:ahLst/>
              <a:cxnLst/>
              <a:rect l="l" t="t" r="r" b="b"/>
              <a:pathLst>
                <a:path w="8657914" h="5478825">
                  <a:moveTo>
                    <a:pt x="8550849" y="5478825"/>
                  </a:moveTo>
                  <a:lnTo>
                    <a:pt x="2573517" y="5359414"/>
                  </a:lnTo>
                  <a:cubicBezTo>
                    <a:pt x="1472291" y="5323441"/>
                    <a:pt x="490912" y="4584872"/>
                    <a:pt x="131713" y="3521608"/>
                  </a:cubicBezTo>
                  <a:cubicBezTo>
                    <a:pt x="130534" y="3517011"/>
                    <a:pt x="128528" y="3509350"/>
                    <a:pt x="125026" y="3500261"/>
                  </a:cubicBezTo>
                  <a:cubicBezTo>
                    <a:pt x="36653" y="3218659"/>
                    <a:pt x="-5370" y="2925026"/>
                    <a:pt x="548" y="2628794"/>
                  </a:cubicBezTo>
                  <a:lnTo>
                    <a:pt x="609" y="2625747"/>
                  </a:lnTo>
                  <a:cubicBezTo>
                    <a:pt x="6530" y="2329388"/>
                    <a:pt x="60243" y="2037794"/>
                    <a:pt x="159793" y="1759946"/>
                  </a:cubicBezTo>
                  <a:cubicBezTo>
                    <a:pt x="163655" y="1751005"/>
                    <a:pt x="165966" y="1743429"/>
                    <a:pt x="167327" y="1738883"/>
                  </a:cubicBezTo>
                  <a:cubicBezTo>
                    <a:pt x="568579" y="690811"/>
                    <a:pt x="1578669" y="-7847"/>
                    <a:pt x="2680582" y="67"/>
                  </a:cubicBezTo>
                  <a:lnTo>
                    <a:pt x="8657914" y="119478"/>
                  </a:lnTo>
                  <a:lnTo>
                    <a:pt x="8550849" y="5478825"/>
                  </a:lnTo>
                  <a:close/>
                </a:path>
              </a:pathLst>
            </a:custGeom>
            <a:blipFill>
              <a:blip r:embed="rId2"/>
              <a:stretch>
                <a:fillRect t="-528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" y="6350"/>
              <a:ext cx="5658866" cy="8903970"/>
            </a:xfrm>
            <a:custGeom>
              <a:avLst/>
              <a:gdLst/>
              <a:ahLst/>
              <a:cxnLst/>
              <a:rect l="l" t="t" r="r" b="b"/>
              <a:pathLst>
                <a:path w="5658866" h="8903970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E9FC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6473659">
            <a:off x="14497390" y="383545"/>
            <a:ext cx="3513961" cy="5524547"/>
            <a:chOff x="0" y="0"/>
            <a:chExt cx="5671566" cy="8916670"/>
          </a:xfrm>
        </p:grpSpPr>
        <p:sp>
          <p:nvSpPr>
            <p:cNvPr id="6" name="Freeform 6"/>
            <p:cNvSpPr/>
            <p:nvPr/>
          </p:nvSpPr>
          <p:spPr>
            <a:xfrm rot="-5400000">
              <a:off x="-1466977" y="1778127"/>
              <a:ext cx="8605520" cy="5360416"/>
            </a:xfrm>
            <a:custGeom>
              <a:avLst/>
              <a:gdLst/>
              <a:ahLst/>
              <a:cxnLst/>
              <a:rect l="l" t="t" r="r" b="b"/>
              <a:pathLst>
                <a:path w="8605520" h="5360416">
                  <a:moveTo>
                    <a:pt x="0" y="0"/>
                  </a:moveTo>
                  <a:lnTo>
                    <a:pt x="5978525" y="0"/>
                  </a:lnTo>
                  <a:cubicBezTo>
                    <a:pt x="7080250" y="13970"/>
                    <a:pt x="8076184" y="732790"/>
                    <a:pt x="8456549" y="1788668"/>
                  </a:cubicBezTo>
                  <a:cubicBezTo>
                    <a:pt x="8457819" y="1793240"/>
                    <a:pt x="8459978" y="1800860"/>
                    <a:pt x="8463661" y="1809877"/>
                  </a:cubicBezTo>
                  <a:cubicBezTo>
                    <a:pt x="8557641" y="2089658"/>
                    <a:pt x="8605520" y="2382393"/>
                    <a:pt x="8605520" y="2678684"/>
                  </a:cubicBezTo>
                  <a:lnTo>
                    <a:pt x="8605520" y="2681732"/>
                  </a:lnTo>
                  <a:cubicBezTo>
                    <a:pt x="8605520" y="2978150"/>
                    <a:pt x="8557641" y="3270758"/>
                    <a:pt x="8463661" y="3550539"/>
                  </a:cubicBezTo>
                  <a:cubicBezTo>
                    <a:pt x="8459978" y="3559556"/>
                    <a:pt x="8457819" y="3567176"/>
                    <a:pt x="8456549" y="3571748"/>
                  </a:cubicBezTo>
                  <a:cubicBezTo>
                    <a:pt x="8076311" y="4627626"/>
                    <a:pt x="7080377" y="5346319"/>
                    <a:pt x="5978525" y="5360416"/>
                  </a:cubicBezTo>
                  <a:lnTo>
                    <a:pt x="0" y="536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7" t="-23160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" y="6350"/>
              <a:ext cx="5658866" cy="8903970"/>
            </a:xfrm>
            <a:custGeom>
              <a:avLst/>
              <a:gdLst/>
              <a:ahLst/>
              <a:cxnLst/>
              <a:rect l="l" t="t" r="r" b="b"/>
              <a:pathLst>
                <a:path w="5658866" h="8903970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E9FC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8040" y="625089"/>
            <a:ext cx="1286311" cy="1387860"/>
            <a:chOff x="0" y="0"/>
            <a:chExt cx="876302" cy="945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88040" y="4502613"/>
            <a:ext cx="14361908" cy="5242096"/>
          </a:xfrm>
          <a:custGeom>
            <a:avLst/>
            <a:gdLst/>
            <a:ahLst/>
            <a:cxnLst/>
            <a:rect l="l" t="t" r="r" b="b"/>
            <a:pathLst>
              <a:path w="14361908" h="5242096">
                <a:moveTo>
                  <a:pt x="0" y="0"/>
                </a:moveTo>
                <a:lnTo>
                  <a:pt x="14361907" y="0"/>
                </a:lnTo>
                <a:lnTo>
                  <a:pt x="14361907" y="5242097"/>
                </a:lnTo>
                <a:lnTo>
                  <a:pt x="0" y="5242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2216374" y="1225218"/>
            <a:ext cx="8178785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b="1" spc="-150">
                <a:solidFill>
                  <a:srgbClr val="1484E1"/>
                </a:solidFill>
                <a:latin typeface="Aileron Bold"/>
                <a:ea typeface="Aileron Bold"/>
                <a:cs typeface="Aileron Bold"/>
                <a:sym typeface="Aileron Bold"/>
              </a:rPr>
              <a:t>METODOLOGIA DE TRABAJO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15882" y="2992242"/>
            <a:ext cx="4713336" cy="471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 b="1" spc="-107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SCRUM VS </a:t>
            </a:r>
            <a:r>
              <a:rPr lang="en-US" sz="3600" b="1" spc="-107">
                <a:solidFill>
                  <a:srgbClr val="343598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KANBAN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8040" y="1107996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3062" y="2214170"/>
            <a:ext cx="3986521" cy="7044130"/>
            <a:chOff x="0" y="0"/>
            <a:chExt cx="1217560" cy="2151413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1204860" cy="2138713"/>
            </a:xfrm>
            <a:custGeom>
              <a:avLst/>
              <a:gdLst/>
              <a:ahLst/>
              <a:cxnLst/>
              <a:rect l="l" t="t" r="r" b="b"/>
              <a:pathLst>
                <a:path w="1204860" h="2138713">
                  <a:moveTo>
                    <a:pt x="0" y="0"/>
                  </a:moveTo>
                  <a:lnTo>
                    <a:pt x="1204860" y="0"/>
                  </a:lnTo>
                  <a:lnTo>
                    <a:pt x="1204860" y="2138713"/>
                  </a:lnTo>
                  <a:lnTo>
                    <a:pt x="0" y="21387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17560" cy="2151413"/>
            </a:xfrm>
            <a:custGeom>
              <a:avLst/>
              <a:gdLst/>
              <a:ahLst/>
              <a:cxnLst/>
              <a:rect l="l" t="t" r="r" b="b"/>
              <a:pathLst>
                <a:path w="1217560" h="2151413">
                  <a:moveTo>
                    <a:pt x="6350" y="2151413"/>
                  </a:moveTo>
                  <a:lnTo>
                    <a:pt x="0" y="2151413"/>
                  </a:lnTo>
                  <a:lnTo>
                    <a:pt x="0" y="0"/>
                  </a:lnTo>
                  <a:lnTo>
                    <a:pt x="1217560" y="0"/>
                  </a:lnTo>
                  <a:lnTo>
                    <a:pt x="1217560" y="2151413"/>
                  </a:lnTo>
                  <a:lnTo>
                    <a:pt x="6350" y="2151413"/>
                  </a:lnTo>
                  <a:close/>
                  <a:moveTo>
                    <a:pt x="12700" y="12700"/>
                  </a:moveTo>
                  <a:lnTo>
                    <a:pt x="12700" y="2138713"/>
                  </a:lnTo>
                  <a:lnTo>
                    <a:pt x="1204860" y="2138713"/>
                  </a:lnTo>
                  <a:lnTo>
                    <a:pt x="120486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1B146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9700" y="140970"/>
              <a:ext cx="936890" cy="1870743"/>
            </a:xfrm>
            <a:custGeom>
              <a:avLst/>
              <a:gdLst/>
              <a:ahLst/>
              <a:cxnLst/>
              <a:rect l="l" t="t" r="r" b="b"/>
              <a:pathLst>
                <a:path w="936890" h="1870743">
                  <a:moveTo>
                    <a:pt x="0" y="0"/>
                  </a:moveTo>
                  <a:lnTo>
                    <a:pt x="936890" y="0"/>
                  </a:lnTo>
                  <a:lnTo>
                    <a:pt x="936890" y="1870743"/>
                  </a:lnTo>
                  <a:lnTo>
                    <a:pt x="0" y="1870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882458" y="2214170"/>
            <a:ext cx="6198374" cy="7044130"/>
            <a:chOff x="0" y="0"/>
            <a:chExt cx="1893102" cy="2151413"/>
          </a:xfrm>
        </p:grpSpPr>
        <p:sp>
          <p:nvSpPr>
            <p:cNvPr id="7" name="Freeform 7"/>
            <p:cNvSpPr/>
            <p:nvPr/>
          </p:nvSpPr>
          <p:spPr>
            <a:xfrm>
              <a:off x="6350" y="6350"/>
              <a:ext cx="1880402" cy="2138713"/>
            </a:xfrm>
            <a:custGeom>
              <a:avLst/>
              <a:gdLst/>
              <a:ahLst/>
              <a:cxnLst/>
              <a:rect l="l" t="t" r="r" b="b"/>
              <a:pathLst>
                <a:path w="1880402" h="2138713">
                  <a:moveTo>
                    <a:pt x="0" y="0"/>
                  </a:moveTo>
                  <a:lnTo>
                    <a:pt x="1880402" y="0"/>
                  </a:lnTo>
                  <a:lnTo>
                    <a:pt x="1880402" y="2138713"/>
                  </a:lnTo>
                  <a:lnTo>
                    <a:pt x="0" y="21387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893102" cy="2151413"/>
            </a:xfrm>
            <a:custGeom>
              <a:avLst/>
              <a:gdLst/>
              <a:ahLst/>
              <a:cxnLst/>
              <a:rect l="l" t="t" r="r" b="b"/>
              <a:pathLst>
                <a:path w="1893102" h="2151413">
                  <a:moveTo>
                    <a:pt x="6350" y="2151413"/>
                  </a:moveTo>
                  <a:lnTo>
                    <a:pt x="0" y="2151413"/>
                  </a:lnTo>
                  <a:lnTo>
                    <a:pt x="0" y="0"/>
                  </a:lnTo>
                  <a:lnTo>
                    <a:pt x="1893102" y="0"/>
                  </a:lnTo>
                  <a:lnTo>
                    <a:pt x="1893102" y="2151413"/>
                  </a:lnTo>
                  <a:lnTo>
                    <a:pt x="6350" y="2151413"/>
                  </a:lnTo>
                  <a:close/>
                  <a:moveTo>
                    <a:pt x="12700" y="12700"/>
                  </a:moveTo>
                  <a:lnTo>
                    <a:pt x="12700" y="2138713"/>
                  </a:lnTo>
                  <a:lnTo>
                    <a:pt x="1880402" y="2138713"/>
                  </a:lnTo>
                  <a:lnTo>
                    <a:pt x="1880402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1B146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9700" y="140970"/>
              <a:ext cx="1612432" cy="1870743"/>
            </a:xfrm>
            <a:custGeom>
              <a:avLst/>
              <a:gdLst/>
              <a:ahLst/>
              <a:cxnLst/>
              <a:rect l="l" t="t" r="r" b="b"/>
              <a:pathLst>
                <a:path w="1612432" h="1870743">
                  <a:moveTo>
                    <a:pt x="0" y="0"/>
                  </a:moveTo>
                  <a:lnTo>
                    <a:pt x="1612432" y="0"/>
                  </a:lnTo>
                  <a:lnTo>
                    <a:pt x="1612432" y="1870743"/>
                  </a:lnTo>
                  <a:lnTo>
                    <a:pt x="0" y="1870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91571" y="2864379"/>
            <a:ext cx="1656081" cy="1623708"/>
            <a:chOff x="0" y="0"/>
            <a:chExt cx="1535024" cy="1505017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7E8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86944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7E8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2757" y="2864379"/>
            <a:ext cx="1656081" cy="1623708"/>
            <a:chOff x="0" y="0"/>
            <a:chExt cx="1535024" cy="1505017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FFD18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B48A4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FFD18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90527" y="2864379"/>
            <a:ext cx="1656081" cy="1623708"/>
            <a:chOff x="0" y="0"/>
            <a:chExt cx="1535024" cy="1505017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7E8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86944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7E8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41208" y="2864379"/>
            <a:ext cx="1656081" cy="1623708"/>
            <a:chOff x="0" y="0"/>
            <a:chExt cx="1535024" cy="1505017"/>
          </a:xfrm>
        </p:grpSpPr>
        <p:sp>
          <p:nvSpPr>
            <p:cNvPr id="23" name="Freeform 23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FFD18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B48A4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FFD18C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304481" y="1755142"/>
            <a:ext cx="2930760" cy="767326"/>
          </a:xfrm>
          <a:custGeom>
            <a:avLst/>
            <a:gdLst/>
            <a:ahLst/>
            <a:cxnLst/>
            <a:rect l="l" t="t" r="r" b="b"/>
            <a:pathLst>
              <a:path w="2930760" h="767326">
                <a:moveTo>
                  <a:pt x="0" y="0"/>
                </a:moveTo>
                <a:lnTo>
                  <a:pt x="2930759" y="0"/>
                </a:lnTo>
                <a:lnTo>
                  <a:pt x="2930759" y="767326"/>
                </a:lnTo>
                <a:lnTo>
                  <a:pt x="0" y="767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Freeform 27"/>
          <p:cNvSpPr/>
          <p:nvPr/>
        </p:nvSpPr>
        <p:spPr>
          <a:xfrm>
            <a:off x="6516265" y="1755142"/>
            <a:ext cx="2930760" cy="767326"/>
          </a:xfrm>
          <a:custGeom>
            <a:avLst/>
            <a:gdLst/>
            <a:ahLst/>
            <a:cxnLst/>
            <a:rect l="l" t="t" r="r" b="b"/>
            <a:pathLst>
              <a:path w="2930760" h="767326">
                <a:moveTo>
                  <a:pt x="0" y="0"/>
                </a:moveTo>
                <a:lnTo>
                  <a:pt x="2930759" y="0"/>
                </a:lnTo>
                <a:lnTo>
                  <a:pt x="2930759" y="767326"/>
                </a:lnTo>
                <a:lnTo>
                  <a:pt x="0" y="767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8" name="Group 28"/>
          <p:cNvGrpSpPr/>
          <p:nvPr/>
        </p:nvGrpSpPr>
        <p:grpSpPr>
          <a:xfrm>
            <a:off x="5191066" y="4662830"/>
            <a:ext cx="1656585" cy="1623708"/>
            <a:chOff x="0" y="0"/>
            <a:chExt cx="2208780" cy="2164944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2208108" cy="2164944"/>
              <a:chOff x="0" y="0"/>
              <a:chExt cx="1535024" cy="150501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350" y="6350"/>
                <a:ext cx="1522324" cy="1492317"/>
              </a:xfrm>
              <a:custGeom>
                <a:avLst/>
                <a:gdLst/>
                <a:ahLst/>
                <a:cxnLst/>
                <a:rect l="l" t="t" r="r" b="b"/>
                <a:pathLst>
                  <a:path w="1522324" h="1492317">
                    <a:moveTo>
                      <a:pt x="0" y="0"/>
                    </a:moveTo>
                    <a:lnTo>
                      <a:pt x="1522324" y="0"/>
                    </a:lnTo>
                    <a:lnTo>
                      <a:pt x="1522324" y="1492317"/>
                    </a:lnTo>
                    <a:lnTo>
                      <a:pt x="0" y="1492317"/>
                    </a:lnTo>
                    <a:close/>
                  </a:path>
                </a:pathLst>
              </a:custGeom>
              <a:solidFill>
                <a:srgbClr val="D7E89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0" y="0"/>
                <a:ext cx="1535024" cy="1505017"/>
              </a:xfrm>
              <a:custGeom>
                <a:avLst/>
                <a:gdLst/>
                <a:ahLst/>
                <a:cxnLst/>
                <a:rect l="l" t="t" r="r" b="b"/>
                <a:pathLst>
                  <a:path w="1535024" h="1505017">
                    <a:moveTo>
                      <a:pt x="6350" y="1505017"/>
                    </a:moveTo>
                    <a:lnTo>
                      <a:pt x="0" y="1505017"/>
                    </a:lnTo>
                    <a:lnTo>
                      <a:pt x="0" y="0"/>
                    </a:lnTo>
                    <a:lnTo>
                      <a:pt x="1535024" y="0"/>
                    </a:lnTo>
                    <a:lnTo>
                      <a:pt x="1535024" y="1505017"/>
                    </a:lnTo>
                    <a:lnTo>
                      <a:pt x="6350" y="1505017"/>
                    </a:lnTo>
                    <a:close/>
                    <a:moveTo>
                      <a:pt x="12700" y="12700"/>
                    </a:moveTo>
                    <a:lnTo>
                      <a:pt x="12700" y="1492317"/>
                    </a:lnTo>
                    <a:lnTo>
                      <a:pt x="1522324" y="1492317"/>
                    </a:lnTo>
                    <a:lnTo>
                      <a:pt x="1522324" y="12700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D7E89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139700" y="140970"/>
                <a:ext cx="1254354" cy="1224347"/>
              </a:xfrm>
              <a:custGeom>
                <a:avLst/>
                <a:gdLst/>
                <a:ahLst/>
                <a:cxnLst/>
                <a:rect l="l" t="t" r="r" b="b"/>
                <a:pathLst>
                  <a:path w="1254354" h="1224347">
                    <a:moveTo>
                      <a:pt x="0" y="0"/>
                    </a:moveTo>
                    <a:lnTo>
                      <a:pt x="1254354" y="0"/>
                    </a:lnTo>
                    <a:lnTo>
                      <a:pt x="1254354" y="1224347"/>
                    </a:lnTo>
                    <a:lnTo>
                      <a:pt x="0" y="1224347"/>
                    </a:lnTo>
                    <a:close/>
                  </a:path>
                </a:pathLst>
              </a:custGeom>
              <a:solidFill>
                <a:srgbClr val="D7E89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673" y="679882"/>
              <a:ext cx="2208108" cy="78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1800" spc="89">
                  <a:solidFill>
                    <a:srgbClr val="270949"/>
                  </a:solidFill>
                  <a:latin typeface="Sniglet"/>
                  <a:ea typeface="Sniglet"/>
                  <a:cs typeface="Sniglet"/>
                  <a:sym typeface="Sniglet"/>
                </a:rPr>
                <a:t>Actualizar precios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789482" y="2864379"/>
            <a:ext cx="1656081" cy="1623708"/>
            <a:chOff x="0" y="0"/>
            <a:chExt cx="2208108" cy="2164944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2208108" cy="2164944"/>
              <a:chOff x="0" y="0"/>
              <a:chExt cx="1535024" cy="150501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50" y="6350"/>
                <a:ext cx="1522324" cy="1492317"/>
              </a:xfrm>
              <a:custGeom>
                <a:avLst/>
                <a:gdLst/>
                <a:ahLst/>
                <a:cxnLst/>
                <a:rect l="l" t="t" r="r" b="b"/>
                <a:pathLst>
                  <a:path w="1522324" h="1492317">
                    <a:moveTo>
                      <a:pt x="0" y="0"/>
                    </a:moveTo>
                    <a:lnTo>
                      <a:pt x="1522324" y="0"/>
                    </a:lnTo>
                    <a:lnTo>
                      <a:pt x="1522324" y="1492317"/>
                    </a:lnTo>
                    <a:lnTo>
                      <a:pt x="0" y="1492317"/>
                    </a:lnTo>
                    <a:close/>
                  </a:path>
                </a:pathLst>
              </a:custGeom>
              <a:solidFill>
                <a:srgbClr val="D7E89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0" y="0"/>
                <a:ext cx="1535024" cy="1505017"/>
              </a:xfrm>
              <a:custGeom>
                <a:avLst/>
                <a:gdLst/>
                <a:ahLst/>
                <a:cxnLst/>
                <a:rect l="l" t="t" r="r" b="b"/>
                <a:pathLst>
                  <a:path w="1535024" h="1505017">
                    <a:moveTo>
                      <a:pt x="6350" y="1505017"/>
                    </a:moveTo>
                    <a:lnTo>
                      <a:pt x="0" y="1505017"/>
                    </a:lnTo>
                    <a:lnTo>
                      <a:pt x="0" y="0"/>
                    </a:lnTo>
                    <a:lnTo>
                      <a:pt x="1535024" y="0"/>
                    </a:lnTo>
                    <a:lnTo>
                      <a:pt x="1535024" y="1505017"/>
                    </a:lnTo>
                    <a:lnTo>
                      <a:pt x="6350" y="1505017"/>
                    </a:lnTo>
                    <a:close/>
                    <a:moveTo>
                      <a:pt x="12700" y="12700"/>
                    </a:moveTo>
                    <a:lnTo>
                      <a:pt x="12700" y="1492317"/>
                    </a:lnTo>
                    <a:lnTo>
                      <a:pt x="1522324" y="1492317"/>
                    </a:lnTo>
                    <a:lnTo>
                      <a:pt x="1522324" y="12700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D7E89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139700" y="140970"/>
                <a:ext cx="1254354" cy="1224347"/>
              </a:xfrm>
              <a:custGeom>
                <a:avLst/>
                <a:gdLst/>
                <a:ahLst/>
                <a:cxnLst/>
                <a:rect l="l" t="t" r="r" b="b"/>
                <a:pathLst>
                  <a:path w="1254354" h="1224347">
                    <a:moveTo>
                      <a:pt x="0" y="0"/>
                    </a:moveTo>
                    <a:lnTo>
                      <a:pt x="1254354" y="0"/>
                    </a:lnTo>
                    <a:lnTo>
                      <a:pt x="1254354" y="1224347"/>
                    </a:lnTo>
                    <a:lnTo>
                      <a:pt x="0" y="1224347"/>
                    </a:lnTo>
                    <a:close/>
                  </a:path>
                </a:pathLst>
              </a:custGeom>
              <a:solidFill>
                <a:srgbClr val="D7E89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0" y="679882"/>
              <a:ext cx="2208108" cy="78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1800" spc="89">
                  <a:solidFill>
                    <a:srgbClr val="270949"/>
                  </a:solidFill>
                  <a:latin typeface="Sniglet"/>
                  <a:ea typeface="Sniglet"/>
                  <a:cs typeface="Sniglet"/>
                  <a:sym typeface="Sniglet"/>
                </a:rPr>
                <a:t>Actualizar Github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214181" y="2214170"/>
            <a:ext cx="6320757" cy="7044130"/>
            <a:chOff x="0" y="0"/>
            <a:chExt cx="1930480" cy="2151413"/>
          </a:xfrm>
        </p:grpSpPr>
        <p:sp>
          <p:nvSpPr>
            <p:cNvPr id="41" name="Freeform 41"/>
            <p:cNvSpPr/>
            <p:nvPr/>
          </p:nvSpPr>
          <p:spPr>
            <a:xfrm>
              <a:off x="6350" y="6350"/>
              <a:ext cx="1917780" cy="2138713"/>
            </a:xfrm>
            <a:custGeom>
              <a:avLst/>
              <a:gdLst/>
              <a:ahLst/>
              <a:cxnLst/>
              <a:rect l="l" t="t" r="r" b="b"/>
              <a:pathLst>
                <a:path w="1917780" h="2138713">
                  <a:moveTo>
                    <a:pt x="0" y="0"/>
                  </a:moveTo>
                  <a:lnTo>
                    <a:pt x="1917780" y="0"/>
                  </a:lnTo>
                  <a:lnTo>
                    <a:pt x="1917780" y="2138713"/>
                  </a:lnTo>
                  <a:lnTo>
                    <a:pt x="0" y="21387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1930480" cy="2151413"/>
            </a:xfrm>
            <a:custGeom>
              <a:avLst/>
              <a:gdLst/>
              <a:ahLst/>
              <a:cxnLst/>
              <a:rect l="l" t="t" r="r" b="b"/>
              <a:pathLst>
                <a:path w="1930480" h="2151413">
                  <a:moveTo>
                    <a:pt x="6350" y="2151413"/>
                  </a:moveTo>
                  <a:lnTo>
                    <a:pt x="0" y="2151413"/>
                  </a:lnTo>
                  <a:lnTo>
                    <a:pt x="0" y="0"/>
                  </a:lnTo>
                  <a:lnTo>
                    <a:pt x="1930480" y="0"/>
                  </a:lnTo>
                  <a:lnTo>
                    <a:pt x="1930480" y="2151413"/>
                  </a:lnTo>
                  <a:lnTo>
                    <a:pt x="6350" y="2151413"/>
                  </a:lnTo>
                  <a:close/>
                  <a:moveTo>
                    <a:pt x="12700" y="12700"/>
                  </a:moveTo>
                  <a:lnTo>
                    <a:pt x="12700" y="2138713"/>
                  </a:lnTo>
                  <a:lnTo>
                    <a:pt x="1917780" y="2138713"/>
                  </a:lnTo>
                  <a:lnTo>
                    <a:pt x="191778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1B146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139700" y="140970"/>
              <a:ext cx="1649810" cy="1870743"/>
            </a:xfrm>
            <a:custGeom>
              <a:avLst/>
              <a:gdLst/>
              <a:ahLst/>
              <a:cxnLst/>
              <a:rect l="l" t="t" r="r" b="b"/>
              <a:pathLst>
                <a:path w="1649810" h="1870743">
                  <a:moveTo>
                    <a:pt x="0" y="0"/>
                  </a:moveTo>
                  <a:lnTo>
                    <a:pt x="1649810" y="0"/>
                  </a:lnTo>
                  <a:lnTo>
                    <a:pt x="1649810" y="1870743"/>
                  </a:lnTo>
                  <a:lnTo>
                    <a:pt x="0" y="1870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682740" y="2864379"/>
            <a:ext cx="1656081" cy="1623708"/>
            <a:chOff x="0" y="0"/>
            <a:chExt cx="1535024" cy="1505017"/>
          </a:xfrm>
        </p:grpSpPr>
        <p:sp>
          <p:nvSpPr>
            <p:cNvPr id="45" name="Freeform 45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9672D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682740" y="4662830"/>
            <a:ext cx="1656081" cy="1623708"/>
            <a:chOff x="0" y="0"/>
            <a:chExt cx="1535024" cy="1505017"/>
          </a:xfrm>
        </p:grpSpPr>
        <p:sp>
          <p:nvSpPr>
            <p:cNvPr id="49" name="Freeform 49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9672D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5589324" y="2864379"/>
            <a:ext cx="1656081" cy="1623708"/>
            <a:chOff x="0" y="0"/>
            <a:chExt cx="1535024" cy="1505017"/>
          </a:xfrm>
        </p:grpSpPr>
        <p:sp>
          <p:nvSpPr>
            <p:cNvPr id="53" name="Freeform 53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9672D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589324" y="4662830"/>
            <a:ext cx="1656081" cy="1623708"/>
            <a:chOff x="0" y="0"/>
            <a:chExt cx="1535024" cy="1505017"/>
          </a:xfrm>
        </p:grpSpPr>
        <p:sp>
          <p:nvSpPr>
            <p:cNvPr id="57" name="Freeform 57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9672D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3682740" y="3360003"/>
            <a:ext cx="1656081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Levantar Base de Datos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682740" y="5158454"/>
            <a:ext cx="1656081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Estandarizar el frontend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589324" y="3207603"/>
            <a:ext cx="1656081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Realizar Scripts de WebScraping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589324" y="5158454"/>
            <a:ext cx="1656081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Rellenar la Documentos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1776156" y="2864379"/>
            <a:ext cx="1656081" cy="1623708"/>
            <a:chOff x="0" y="0"/>
            <a:chExt cx="1535024" cy="1505017"/>
          </a:xfrm>
        </p:grpSpPr>
        <p:sp>
          <p:nvSpPr>
            <p:cNvPr id="65" name="Freeform 65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Freeform 66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9672D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776156" y="3360003"/>
            <a:ext cx="1656081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Hacer Casos de uso</a:t>
            </a:r>
          </a:p>
        </p:txBody>
      </p:sp>
      <p:sp>
        <p:nvSpPr>
          <p:cNvPr id="69" name="Freeform 69"/>
          <p:cNvSpPr/>
          <p:nvPr/>
        </p:nvSpPr>
        <p:spPr>
          <a:xfrm>
            <a:off x="12909180" y="1755142"/>
            <a:ext cx="2930760" cy="767326"/>
          </a:xfrm>
          <a:custGeom>
            <a:avLst/>
            <a:gdLst/>
            <a:ahLst/>
            <a:cxnLst/>
            <a:rect l="l" t="t" r="r" b="b"/>
            <a:pathLst>
              <a:path w="2930760" h="767326">
                <a:moveTo>
                  <a:pt x="0" y="0"/>
                </a:moveTo>
                <a:lnTo>
                  <a:pt x="2930759" y="0"/>
                </a:lnTo>
                <a:lnTo>
                  <a:pt x="2930759" y="767326"/>
                </a:lnTo>
                <a:lnTo>
                  <a:pt x="0" y="767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0" name="TextBox 70"/>
          <p:cNvSpPr txBox="1"/>
          <p:nvPr/>
        </p:nvSpPr>
        <p:spPr>
          <a:xfrm>
            <a:off x="4438127" y="74551"/>
            <a:ext cx="8369665" cy="98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71"/>
              </a:lnSpc>
              <a:spcBef>
                <a:spcPct val="0"/>
              </a:spcBef>
            </a:pPr>
            <a:r>
              <a:rPr lang="en-US" sz="6399" b="1">
                <a:solidFill>
                  <a:srgbClr val="1484E1"/>
                </a:solidFill>
                <a:latin typeface="Aileron Bold"/>
                <a:ea typeface="Aileron Bold"/>
                <a:cs typeface="Aileron Bold"/>
                <a:sym typeface="Aileron Bold"/>
              </a:rPr>
              <a:t>KANBAN: FARMATO</a:t>
            </a:r>
          </a:p>
        </p:txBody>
      </p:sp>
      <p:sp>
        <p:nvSpPr>
          <p:cNvPr id="71" name="TextBox 71"/>
          <p:cNvSpPr txBox="1"/>
          <p:nvPr/>
        </p:nvSpPr>
        <p:spPr>
          <a:xfrm rot="43120">
            <a:off x="1817995" y="1949354"/>
            <a:ext cx="1903852" cy="37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2"/>
              </a:lnSpc>
              <a:spcBef>
                <a:spcPct val="0"/>
              </a:spcBef>
            </a:pPr>
            <a:r>
              <a:rPr lang="en-US" sz="2400">
                <a:solidFill>
                  <a:srgbClr val="1B1464"/>
                </a:solidFill>
                <a:latin typeface="Aileron"/>
                <a:ea typeface="Aileron"/>
                <a:cs typeface="Aileron"/>
                <a:sym typeface="Aileron"/>
              </a:rPr>
              <a:t>¿Qué Hacer?</a:t>
            </a:r>
          </a:p>
        </p:txBody>
      </p:sp>
      <p:sp>
        <p:nvSpPr>
          <p:cNvPr id="72" name="TextBox 72"/>
          <p:cNvSpPr txBox="1"/>
          <p:nvPr/>
        </p:nvSpPr>
        <p:spPr>
          <a:xfrm rot="43120">
            <a:off x="7128577" y="1948114"/>
            <a:ext cx="1706254" cy="37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2"/>
              </a:lnSpc>
              <a:spcBef>
                <a:spcPct val="0"/>
              </a:spcBef>
            </a:pPr>
            <a:r>
              <a:rPr lang="en-US" sz="2400">
                <a:solidFill>
                  <a:srgbClr val="1B1464"/>
                </a:solidFill>
                <a:latin typeface="Aileron"/>
                <a:ea typeface="Aileron"/>
                <a:cs typeface="Aileron"/>
                <a:sym typeface="Aileron"/>
              </a:rPr>
              <a:t>Haciendo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191571" y="3360003"/>
            <a:ext cx="1601402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Integrar Plataformas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28700" y="3360003"/>
            <a:ext cx="1670137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Añadir mas variedad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986079" y="3360003"/>
            <a:ext cx="1636880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Automatizar Scraping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841208" y="3512403"/>
            <a:ext cx="1656081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Hacer testing</a:t>
            </a:r>
          </a:p>
        </p:txBody>
      </p:sp>
      <p:sp>
        <p:nvSpPr>
          <p:cNvPr id="77" name="TextBox 77"/>
          <p:cNvSpPr txBox="1"/>
          <p:nvPr/>
        </p:nvSpPr>
        <p:spPr>
          <a:xfrm rot="43120">
            <a:off x="13521492" y="1935207"/>
            <a:ext cx="1706254" cy="37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2"/>
              </a:lnSpc>
              <a:spcBef>
                <a:spcPct val="0"/>
              </a:spcBef>
            </a:pPr>
            <a:r>
              <a:rPr lang="en-US" sz="2400">
                <a:solidFill>
                  <a:srgbClr val="1B1464"/>
                </a:solidFill>
                <a:latin typeface="Aileron"/>
                <a:ea typeface="Aileron"/>
                <a:cs typeface="Aileron"/>
                <a:sym typeface="Aileron"/>
              </a:rPr>
              <a:t>Hecho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1779010" y="4662830"/>
            <a:ext cx="1656081" cy="1623708"/>
            <a:chOff x="0" y="0"/>
            <a:chExt cx="1535024" cy="1505017"/>
          </a:xfrm>
        </p:grpSpPr>
        <p:sp>
          <p:nvSpPr>
            <p:cNvPr id="79" name="Freeform 79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Freeform 80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9672D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Freeform 81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1776156" y="5158454"/>
            <a:ext cx="1656081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Realizar inventario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385544" y="205874"/>
            <a:ext cx="1286311" cy="1387860"/>
            <a:chOff x="0" y="0"/>
            <a:chExt cx="876302" cy="94548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385544" y="688781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/6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11776156" y="6457988"/>
            <a:ext cx="1656081" cy="1623708"/>
            <a:chOff x="0" y="0"/>
            <a:chExt cx="1535024" cy="1505017"/>
          </a:xfrm>
        </p:grpSpPr>
        <p:sp>
          <p:nvSpPr>
            <p:cNvPr id="88" name="Freeform 88"/>
            <p:cNvSpPr/>
            <p:nvPr/>
          </p:nvSpPr>
          <p:spPr>
            <a:xfrm>
              <a:off x="6350" y="6350"/>
              <a:ext cx="1522324" cy="1492317"/>
            </a:xfrm>
            <a:custGeom>
              <a:avLst/>
              <a:gdLst/>
              <a:ahLst/>
              <a:cxnLst/>
              <a:rect l="l" t="t" r="r" b="b"/>
              <a:pathLst>
                <a:path w="1522324" h="1492317">
                  <a:moveTo>
                    <a:pt x="0" y="0"/>
                  </a:moveTo>
                  <a:lnTo>
                    <a:pt x="1522324" y="0"/>
                  </a:lnTo>
                  <a:lnTo>
                    <a:pt x="1522324" y="1492317"/>
                  </a:lnTo>
                  <a:lnTo>
                    <a:pt x="0" y="149231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89"/>
            <p:cNvSpPr/>
            <p:nvPr/>
          </p:nvSpPr>
          <p:spPr>
            <a:xfrm>
              <a:off x="0" y="0"/>
              <a:ext cx="1535024" cy="1505017"/>
            </a:xfrm>
            <a:custGeom>
              <a:avLst/>
              <a:gdLst/>
              <a:ahLst/>
              <a:cxnLst/>
              <a:rect l="l" t="t" r="r" b="b"/>
              <a:pathLst>
                <a:path w="1535024" h="1505017">
                  <a:moveTo>
                    <a:pt x="6350" y="1505017"/>
                  </a:moveTo>
                  <a:lnTo>
                    <a:pt x="0" y="1505017"/>
                  </a:lnTo>
                  <a:lnTo>
                    <a:pt x="0" y="0"/>
                  </a:lnTo>
                  <a:lnTo>
                    <a:pt x="1535024" y="0"/>
                  </a:lnTo>
                  <a:lnTo>
                    <a:pt x="1535024" y="1505017"/>
                  </a:lnTo>
                  <a:lnTo>
                    <a:pt x="6350" y="1505017"/>
                  </a:lnTo>
                  <a:close/>
                  <a:moveTo>
                    <a:pt x="12700" y="12700"/>
                  </a:moveTo>
                  <a:lnTo>
                    <a:pt x="12700" y="1492317"/>
                  </a:lnTo>
                  <a:lnTo>
                    <a:pt x="1522324" y="1492317"/>
                  </a:lnTo>
                  <a:lnTo>
                    <a:pt x="1522324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9672D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90"/>
            <p:cNvSpPr/>
            <p:nvPr/>
          </p:nvSpPr>
          <p:spPr>
            <a:xfrm>
              <a:off x="139700" y="140970"/>
              <a:ext cx="1254354" cy="1224347"/>
            </a:xfrm>
            <a:custGeom>
              <a:avLst/>
              <a:gdLst/>
              <a:ahLst/>
              <a:cxnLst/>
              <a:rect l="l" t="t" r="r" b="b"/>
              <a:pathLst>
                <a:path w="1254354" h="1224347">
                  <a:moveTo>
                    <a:pt x="0" y="0"/>
                  </a:moveTo>
                  <a:lnTo>
                    <a:pt x="1254354" y="0"/>
                  </a:lnTo>
                  <a:lnTo>
                    <a:pt x="1254354" y="1224347"/>
                  </a:lnTo>
                  <a:lnTo>
                    <a:pt x="0" y="1224347"/>
                  </a:lnTo>
                  <a:close/>
                </a:path>
              </a:pathLst>
            </a:custGeom>
            <a:solidFill>
              <a:srgbClr val="D1BA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1779010" y="6953288"/>
            <a:ext cx="1656081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spc="89">
                <a:solidFill>
                  <a:srgbClr val="270949"/>
                </a:solidFill>
                <a:latin typeface="Aileron"/>
                <a:ea typeface="Aileron"/>
                <a:cs typeface="Aileron"/>
                <a:sym typeface="Aileron"/>
              </a:rPr>
              <a:t>Levantar VENV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26970" y="4570922"/>
            <a:ext cx="4922786" cy="125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070" b="1" spc="-152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ARQUITECTURA DEL SOFTWARE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85544" y="247650"/>
            <a:ext cx="1286311" cy="1387860"/>
            <a:chOff x="0" y="0"/>
            <a:chExt cx="876302" cy="9454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85544" y="730557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/7</a:t>
            </a:r>
          </a:p>
        </p:txBody>
      </p:sp>
      <p:pic>
        <p:nvPicPr>
          <p:cNvPr id="17" name="Imagen 16" descr="Diagrama&#10;&#10;El contenido generado por IA puede ser incorrecto.">
            <a:extLst>
              <a:ext uri="{FF2B5EF4-FFF2-40B4-BE49-F238E27FC236}">
                <a16:creationId xmlns:a16="http://schemas.microsoft.com/office/drawing/2014/main" id="{03F07176-64CC-549A-F28B-FF0C2B1E5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7479"/>
            <a:ext cx="9144000" cy="95075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56750">
            <a:off x="16819731" y="8391650"/>
            <a:ext cx="6857521" cy="6304604"/>
          </a:xfrm>
          <a:custGeom>
            <a:avLst/>
            <a:gdLst/>
            <a:ahLst/>
            <a:cxnLst/>
            <a:rect l="l" t="t" r="r" b="b"/>
            <a:pathLst>
              <a:path w="6857521" h="6304604">
                <a:moveTo>
                  <a:pt x="0" y="0"/>
                </a:moveTo>
                <a:lnTo>
                  <a:pt x="6857520" y="0"/>
                </a:lnTo>
                <a:lnTo>
                  <a:pt x="6857520" y="6304603"/>
                </a:lnTo>
                <a:lnTo>
                  <a:pt x="0" y="6304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028700" y="1605541"/>
            <a:ext cx="16700012" cy="8322173"/>
          </a:xfrm>
          <a:custGeom>
            <a:avLst/>
            <a:gdLst/>
            <a:ahLst/>
            <a:cxnLst/>
            <a:rect l="l" t="t" r="r" b="b"/>
            <a:pathLst>
              <a:path w="16700012" h="8322173">
                <a:moveTo>
                  <a:pt x="0" y="0"/>
                </a:moveTo>
                <a:lnTo>
                  <a:pt x="16700012" y="0"/>
                </a:lnTo>
                <a:lnTo>
                  <a:pt x="16700012" y="8322173"/>
                </a:lnTo>
                <a:lnTo>
                  <a:pt x="0" y="8322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061614" y="379108"/>
            <a:ext cx="6164771" cy="64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5062" b="1" spc="-151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MODELO DE DATOS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69976" y="283372"/>
            <a:ext cx="1117447" cy="1322169"/>
            <a:chOff x="0" y="0"/>
            <a:chExt cx="876302" cy="10368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6302" cy="1036845"/>
            </a:xfrm>
            <a:custGeom>
              <a:avLst/>
              <a:gdLst/>
              <a:ahLst/>
              <a:cxnLst/>
              <a:rect l="l" t="t" r="r" b="b"/>
              <a:pathLst>
                <a:path w="876302" h="1036845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3479"/>
                  </a:cubicBezTo>
                  <a:lnTo>
                    <a:pt x="876302" y="1036845"/>
                  </a:lnTo>
                  <a:lnTo>
                    <a:pt x="0" y="1036845"/>
                  </a:lnTo>
                  <a:lnTo>
                    <a:pt x="0" y="334001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9850"/>
              <a:ext cx="876302" cy="966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69976" y="746311"/>
            <a:ext cx="1117447" cy="80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US" sz="6483" b="1" spc="-194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56750">
            <a:off x="17241051" y="7513534"/>
            <a:ext cx="6857521" cy="6304604"/>
          </a:xfrm>
          <a:custGeom>
            <a:avLst/>
            <a:gdLst/>
            <a:ahLst/>
            <a:cxnLst/>
            <a:rect l="l" t="t" r="r" b="b"/>
            <a:pathLst>
              <a:path w="6857521" h="6304604">
                <a:moveTo>
                  <a:pt x="0" y="0"/>
                </a:moveTo>
                <a:lnTo>
                  <a:pt x="6857521" y="0"/>
                </a:lnTo>
                <a:lnTo>
                  <a:pt x="6857521" y="6304603"/>
                </a:lnTo>
                <a:lnTo>
                  <a:pt x="0" y="6304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6061614" y="379108"/>
            <a:ext cx="6164771" cy="64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5062" b="1" spc="-151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MODELO DE DATOS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85544" y="205874"/>
            <a:ext cx="1286311" cy="1387860"/>
            <a:chOff x="0" y="0"/>
            <a:chExt cx="876302" cy="9454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76302" cy="945482"/>
            </a:xfrm>
            <a:custGeom>
              <a:avLst/>
              <a:gdLst/>
              <a:ahLst/>
              <a:cxnLst/>
              <a:rect l="l" t="t" r="r" b="b"/>
              <a:pathLst>
                <a:path w="876302" h="945482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1449"/>
                  </a:cubicBezTo>
                  <a:lnTo>
                    <a:pt x="876302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9850"/>
              <a:ext cx="876302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5544" y="688781"/>
            <a:ext cx="1286311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/9</a:t>
            </a:r>
          </a:p>
        </p:txBody>
      </p:sp>
      <p:pic>
        <p:nvPicPr>
          <p:cNvPr id="18" name="Imagen 17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AFAA7E81-0E9B-405F-2D29-CFEB796D9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855" y="1165502"/>
            <a:ext cx="15137337" cy="82783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5544" y="205874"/>
            <a:ext cx="1639034" cy="1387860"/>
            <a:chOff x="0" y="0"/>
            <a:chExt cx="1116595" cy="945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6595" cy="945482"/>
            </a:xfrm>
            <a:custGeom>
              <a:avLst/>
              <a:gdLst/>
              <a:ahLst/>
              <a:cxnLst/>
              <a:rect l="l" t="t" r="r" b="b"/>
              <a:pathLst>
                <a:path w="1116595" h="945482">
                  <a:moveTo>
                    <a:pt x="372400" y="19070"/>
                  </a:moveTo>
                  <a:cubicBezTo>
                    <a:pt x="429460" y="7556"/>
                    <a:pt x="494725" y="0"/>
                    <a:pt x="558598" y="0"/>
                  </a:cubicBezTo>
                  <a:cubicBezTo>
                    <a:pt x="622474" y="0"/>
                    <a:pt x="683938" y="6476"/>
                    <a:pt x="740580" y="17990"/>
                  </a:cubicBezTo>
                  <a:cubicBezTo>
                    <a:pt x="741786" y="18350"/>
                    <a:pt x="742991" y="18350"/>
                    <a:pt x="744196" y="18710"/>
                  </a:cubicBezTo>
                  <a:cubicBezTo>
                    <a:pt x="956909" y="64765"/>
                    <a:pt x="1113583" y="186379"/>
                    <a:pt x="1116595" y="331449"/>
                  </a:cubicBezTo>
                  <a:lnTo>
                    <a:pt x="1116595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3013" y="185660"/>
                    <a:pt x="157275" y="64045"/>
                    <a:pt x="372400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9850"/>
              <a:ext cx="1116595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-705028"/>
            <a:ext cx="10363802" cy="10992028"/>
            <a:chOff x="0" y="0"/>
            <a:chExt cx="2729561" cy="28950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9561" cy="2895020"/>
            </a:xfrm>
            <a:custGeom>
              <a:avLst/>
              <a:gdLst/>
              <a:ahLst/>
              <a:cxnLst/>
              <a:rect l="l" t="t" r="r" b="b"/>
              <a:pathLst>
                <a:path w="2729561" h="2895020">
                  <a:moveTo>
                    <a:pt x="0" y="0"/>
                  </a:moveTo>
                  <a:lnTo>
                    <a:pt x="2729561" y="0"/>
                  </a:lnTo>
                  <a:lnTo>
                    <a:pt x="2729561" y="2895020"/>
                  </a:lnTo>
                  <a:lnTo>
                    <a:pt x="0" y="2895020"/>
                  </a:lnTo>
                  <a:close/>
                </a:path>
              </a:pathLst>
            </a:custGeom>
            <a:solidFill>
              <a:srgbClr val="11B2B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29561" cy="2952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057912" y="3818963"/>
            <a:ext cx="1504630" cy="1551650"/>
          </a:xfrm>
          <a:custGeom>
            <a:avLst/>
            <a:gdLst/>
            <a:ahLst/>
            <a:cxnLst/>
            <a:rect l="l" t="t" r="r" b="b"/>
            <a:pathLst>
              <a:path w="1504630" h="1551650">
                <a:moveTo>
                  <a:pt x="0" y="0"/>
                </a:moveTo>
                <a:lnTo>
                  <a:pt x="1504630" y="0"/>
                </a:lnTo>
                <a:lnTo>
                  <a:pt x="1504630" y="1551649"/>
                </a:lnTo>
                <a:lnTo>
                  <a:pt x="0" y="1551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3572192" y="3398548"/>
            <a:ext cx="2493273" cy="2493273"/>
          </a:xfrm>
          <a:custGeom>
            <a:avLst/>
            <a:gdLst/>
            <a:ahLst/>
            <a:cxnLst/>
            <a:rect l="l" t="t" r="r" b="b"/>
            <a:pathLst>
              <a:path w="2493273" h="2493273">
                <a:moveTo>
                  <a:pt x="0" y="0"/>
                </a:moveTo>
                <a:lnTo>
                  <a:pt x="2493273" y="0"/>
                </a:lnTo>
                <a:lnTo>
                  <a:pt x="2493273" y="2493273"/>
                </a:lnTo>
                <a:lnTo>
                  <a:pt x="0" y="2493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184431" y="3818963"/>
            <a:ext cx="1680295" cy="1749640"/>
          </a:xfrm>
          <a:custGeom>
            <a:avLst/>
            <a:gdLst/>
            <a:ahLst/>
            <a:cxnLst/>
            <a:rect l="l" t="t" r="r" b="b"/>
            <a:pathLst>
              <a:path w="1680295" h="1749640">
                <a:moveTo>
                  <a:pt x="0" y="0"/>
                </a:moveTo>
                <a:lnTo>
                  <a:pt x="1680294" y="0"/>
                </a:lnTo>
                <a:lnTo>
                  <a:pt x="1680294" y="1749640"/>
                </a:lnTo>
                <a:lnTo>
                  <a:pt x="0" y="1749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63" r="-206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3492337" y="3838013"/>
            <a:ext cx="1261389" cy="1780886"/>
          </a:xfrm>
          <a:custGeom>
            <a:avLst/>
            <a:gdLst/>
            <a:ahLst/>
            <a:cxnLst/>
            <a:rect l="l" t="t" r="r" b="b"/>
            <a:pathLst>
              <a:path w="1261389" h="1780886">
                <a:moveTo>
                  <a:pt x="0" y="0"/>
                </a:moveTo>
                <a:lnTo>
                  <a:pt x="1261389" y="0"/>
                </a:lnTo>
                <a:lnTo>
                  <a:pt x="1261389" y="1780886"/>
                </a:lnTo>
                <a:lnTo>
                  <a:pt x="0" y="1780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5382376" y="4067249"/>
            <a:ext cx="2249978" cy="1551650"/>
          </a:xfrm>
          <a:custGeom>
            <a:avLst/>
            <a:gdLst/>
            <a:ahLst/>
            <a:cxnLst/>
            <a:rect l="l" t="t" r="r" b="b"/>
            <a:pathLst>
              <a:path w="2249978" h="1551650">
                <a:moveTo>
                  <a:pt x="0" y="0"/>
                </a:moveTo>
                <a:lnTo>
                  <a:pt x="2249978" y="0"/>
                </a:lnTo>
                <a:lnTo>
                  <a:pt x="2249978" y="1551650"/>
                </a:lnTo>
                <a:lnTo>
                  <a:pt x="0" y="1551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253" r="-21671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-428175" y="6228499"/>
            <a:ext cx="20362381" cy="10992028"/>
            <a:chOff x="0" y="0"/>
            <a:chExt cx="5362932" cy="28950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62932" cy="2895020"/>
            </a:xfrm>
            <a:custGeom>
              <a:avLst/>
              <a:gdLst/>
              <a:ahLst/>
              <a:cxnLst/>
              <a:rect l="l" t="t" r="r" b="b"/>
              <a:pathLst>
                <a:path w="5362932" h="2895020">
                  <a:moveTo>
                    <a:pt x="0" y="0"/>
                  </a:moveTo>
                  <a:lnTo>
                    <a:pt x="5362932" y="0"/>
                  </a:lnTo>
                  <a:lnTo>
                    <a:pt x="5362932" y="2895020"/>
                  </a:lnTo>
                  <a:lnTo>
                    <a:pt x="0" y="2895020"/>
                  </a:lnTo>
                  <a:close/>
                </a:path>
              </a:pathLst>
            </a:custGeom>
            <a:solidFill>
              <a:srgbClr val="4BDDA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5362932" cy="2952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669398" y="7626959"/>
            <a:ext cx="2080007" cy="2080007"/>
          </a:xfrm>
          <a:custGeom>
            <a:avLst/>
            <a:gdLst/>
            <a:ahLst/>
            <a:cxnLst/>
            <a:rect l="l" t="t" r="r" b="b"/>
            <a:pathLst>
              <a:path w="2080007" h="2080007">
                <a:moveTo>
                  <a:pt x="0" y="0"/>
                </a:moveTo>
                <a:lnTo>
                  <a:pt x="2080007" y="0"/>
                </a:lnTo>
                <a:lnTo>
                  <a:pt x="2080007" y="2080008"/>
                </a:lnTo>
                <a:lnTo>
                  <a:pt x="0" y="20800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10703544" y="7939327"/>
            <a:ext cx="1767640" cy="1767640"/>
          </a:xfrm>
          <a:custGeom>
            <a:avLst/>
            <a:gdLst/>
            <a:ahLst/>
            <a:cxnLst/>
            <a:rect l="l" t="t" r="r" b="b"/>
            <a:pathLst>
              <a:path w="1767640" h="1767640">
                <a:moveTo>
                  <a:pt x="0" y="0"/>
                </a:moveTo>
                <a:lnTo>
                  <a:pt x="1767640" y="0"/>
                </a:lnTo>
                <a:lnTo>
                  <a:pt x="1767640" y="1767640"/>
                </a:lnTo>
                <a:lnTo>
                  <a:pt x="0" y="1767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385544" y="688781"/>
            <a:ext cx="1639034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/10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74688" y="764173"/>
            <a:ext cx="8737796" cy="64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070" b="1" spc="-152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TECNOLOGÍAS  </a:t>
            </a:r>
            <a:r>
              <a:rPr lang="en-US" sz="5070" b="1" spc="-152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UTILIZADAS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87364" y="2412013"/>
            <a:ext cx="3526440" cy="64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070" b="1" spc="-152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BACKEND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64725" y="2578556"/>
            <a:ext cx="3778001" cy="64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070" b="1" spc="-152">
                <a:solidFill>
                  <a:srgbClr val="25C7CB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FRONTEND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38728" y="6810621"/>
            <a:ext cx="13712487" cy="64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070" b="1" spc="-152">
                <a:solidFill>
                  <a:srgbClr val="00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OBTENCIÓN Y PROCESAMIENTO DE DATOS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0282" y="3113174"/>
            <a:ext cx="2570034" cy="2030326"/>
          </a:xfrm>
          <a:custGeom>
            <a:avLst/>
            <a:gdLst/>
            <a:ahLst/>
            <a:cxnLst/>
            <a:rect l="l" t="t" r="r" b="b"/>
            <a:pathLst>
              <a:path w="2570034" h="2030326">
                <a:moveTo>
                  <a:pt x="0" y="0"/>
                </a:moveTo>
                <a:lnTo>
                  <a:pt x="2570033" y="0"/>
                </a:lnTo>
                <a:lnTo>
                  <a:pt x="2570033" y="2030326"/>
                </a:lnTo>
                <a:lnTo>
                  <a:pt x="0" y="20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0800000">
            <a:off x="12365063" y="4730468"/>
            <a:ext cx="2570034" cy="2030326"/>
          </a:xfrm>
          <a:custGeom>
            <a:avLst/>
            <a:gdLst/>
            <a:ahLst/>
            <a:cxnLst/>
            <a:rect l="l" t="t" r="r" b="b"/>
            <a:pathLst>
              <a:path w="2570034" h="2030326">
                <a:moveTo>
                  <a:pt x="0" y="0"/>
                </a:moveTo>
                <a:lnTo>
                  <a:pt x="2570034" y="0"/>
                </a:lnTo>
                <a:lnTo>
                  <a:pt x="2570034" y="2030327"/>
                </a:lnTo>
                <a:lnTo>
                  <a:pt x="0" y="2030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682834">
            <a:off x="14190163" y="-2403459"/>
            <a:ext cx="6138273" cy="6903988"/>
          </a:xfrm>
          <a:custGeom>
            <a:avLst/>
            <a:gdLst/>
            <a:ahLst/>
            <a:cxnLst/>
            <a:rect l="l" t="t" r="r" b="b"/>
            <a:pathLst>
              <a:path w="6138273" h="6903988">
                <a:moveTo>
                  <a:pt x="0" y="0"/>
                </a:moveTo>
                <a:lnTo>
                  <a:pt x="6138274" y="0"/>
                </a:lnTo>
                <a:lnTo>
                  <a:pt x="6138274" y="6903989"/>
                </a:lnTo>
                <a:lnTo>
                  <a:pt x="0" y="6903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8327993">
            <a:off x="-4293403" y="5897414"/>
            <a:ext cx="6138273" cy="6903988"/>
          </a:xfrm>
          <a:custGeom>
            <a:avLst/>
            <a:gdLst/>
            <a:ahLst/>
            <a:cxnLst/>
            <a:rect l="l" t="t" r="r" b="b"/>
            <a:pathLst>
              <a:path w="6138273" h="6903988">
                <a:moveTo>
                  <a:pt x="0" y="0"/>
                </a:moveTo>
                <a:lnTo>
                  <a:pt x="6138273" y="0"/>
                </a:lnTo>
                <a:lnTo>
                  <a:pt x="6138273" y="6903988"/>
                </a:lnTo>
                <a:lnTo>
                  <a:pt x="0" y="6903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385544" y="205874"/>
            <a:ext cx="1639034" cy="1387860"/>
            <a:chOff x="0" y="0"/>
            <a:chExt cx="1116595" cy="945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6595" cy="945482"/>
            </a:xfrm>
            <a:custGeom>
              <a:avLst/>
              <a:gdLst/>
              <a:ahLst/>
              <a:cxnLst/>
              <a:rect l="l" t="t" r="r" b="b"/>
              <a:pathLst>
                <a:path w="1116595" h="945482">
                  <a:moveTo>
                    <a:pt x="372400" y="19070"/>
                  </a:moveTo>
                  <a:cubicBezTo>
                    <a:pt x="429460" y="7556"/>
                    <a:pt x="494725" y="0"/>
                    <a:pt x="558598" y="0"/>
                  </a:cubicBezTo>
                  <a:cubicBezTo>
                    <a:pt x="622474" y="0"/>
                    <a:pt x="683938" y="6476"/>
                    <a:pt x="740580" y="17990"/>
                  </a:cubicBezTo>
                  <a:cubicBezTo>
                    <a:pt x="741786" y="18350"/>
                    <a:pt x="742991" y="18350"/>
                    <a:pt x="744196" y="18710"/>
                  </a:cubicBezTo>
                  <a:cubicBezTo>
                    <a:pt x="956909" y="64765"/>
                    <a:pt x="1113583" y="186379"/>
                    <a:pt x="1116595" y="331449"/>
                  </a:cubicBezTo>
                  <a:lnTo>
                    <a:pt x="1116595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3013" y="185660"/>
                    <a:pt x="157275" y="64045"/>
                    <a:pt x="372400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9850"/>
              <a:ext cx="1116595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409875" y="4644743"/>
            <a:ext cx="6767365" cy="729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3"/>
              </a:lnSpc>
            </a:pPr>
            <a:r>
              <a:rPr lang="en-US" sz="4280">
                <a:solidFill>
                  <a:srgbClr val="1F7FCF"/>
                </a:solidFill>
                <a:latin typeface="Aileron"/>
                <a:ea typeface="Aileron"/>
                <a:cs typeface="Aileron"/>
                <a:sym typeface="Aileron"/>
              </a:rPr>
              <a:t>Demostración del proyecto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5544" y="688781"/>
            <a:ext cx="1639034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22963" y="2590175"/>
            <a:ext cx="1117447" cy="1429614"/>
            <a:chOff x="0" y="0"/>
            <a:chExt cx="876302" cy="1121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02" cy="1121104"/>
            </a:xfrm>
            <a:custGeom>
              <a:avLst/>
              <a:gdLst/>
              <a:ahLst/>
              <a:cxnLst/>
              <a:rect l="l" t="t" r="r" b="b"/>
              <a:pathLst>
                <a:path w="876302" h="1121104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5350"/>
                  </a:cubicBezTo>
                  <a:lnTo>
                    <a:pt x="876302" y="1121104"/>
                  </a:lnTo>
                  <a:lnTo>
                    <a:pt x="0" y="1121104"/>
                  </a:lnTo>
                  <a:lnTo>
                    <a:pt x="0" y="335933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9850"/>
              <a:ext cx="876302" cy="1051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91668" y="5089614"/>
            <a:ext cx="1117447" cy="1429614"/>
            <a:chOff x="0" y="0"/>
            <a:chExt cx="876302" cy="1121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6302" cy="1121104"/>
            </a:xfrm>
            <a:custGeom>
              <a:avLst/>
              <a:gdLst/>
              <a:ahLst/>
              <a:cxnLst/>
              <a:rect l="l" t="t" r="r" b="b"/>
              <a:pathLst>
                <a:path w="876302" h="1121104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5350"/>
                  </a:cubicBezTo>
                  <a:lnTo>
                    <a:pt x="876302" y="1121104"/>
                  </a:lnTo>
                  <a:lnTo>
                    <a:pt x="0" y="1121104"/>
                  </a:lnTo>
                  <a:lnTo>
                    <a:pt x="0" y="335933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9850"/>
              <a:ext cx="876302" cy="1051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09636" y="7767644"/>
            <a:ext cx="1117447" cy="1490656"/>
            <a:chOff x="0" y="0"/>
            <a:chExt cx="876302" cy="11689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6302" cy="1168973"/>
            </a:xfrm>
            <a:custGeom>
              <a:avLst/>
              <a:gdLst/>
              <a:ahLst/>
              <a:cxnLst/>
              <a:rect l="l" t="t" r="r" b="b"/>
              <a:pathLst>
                <a:path w="876302" h="1168973">
                  <a:moveTo>
                    <a:pt x="292259" y="19070"/>
                  </a:moveTo>
                  <a:cubicBezTo>
                    <a:pt x="337039" y="7556"/>
                    <a:pt x="388259" y="0"/>
                    <a:pt x="438387" y="0"/>
                  </a:cubicBezTo>
                  <a:cubicBezTo>
                    <a:pt x="488517" y="0"/>
                    <a:pt x="536754" y="6476"/>
                    <a:pt x="581206" y="17990"/>
                  </a:cubicBezTo>
                  <a:cubicBezTo>
                    <a:pt x="582153" y="18350"/>
                    <a:pt x="583098" y="18350"/>
                    <a:pt x="584044" y="18710"/>
                  </a:cubicBezTo>
                  <a:cubicBezTo>
                    <a:pt x="750981" y="64765"/>
                    <a:pt x="873938" y="186379"/>
                    <a:pt x="876302" y="336414"/>
                  </a:cubicBezTo>
                  <a:lnTo>
                    <a:pt x="876302" y="1168973"/>
                  </a:lnTo>
                  <a:lnTo>
                    <a:pt x="0" y="1168973"/>
                  </a:lnTo>
                  <a:lnTo>
                    <a:pt x="0" y="337031"/>
                  </a:lnTo>
                  <a:cubicBezTo>
                    <a:pt x="2365" y="185660"/>
                    <a:pt x="123430" y="64045"/>
                    <a:pt x="292259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9850"/>
              <a:ext cx="876302" cy="1099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2184686" y="6711549"/>
            <a:ext cx="6426772" cy="6426772"/>
          </a:xfrm>
          <a:custGeom>
            <a:avLst/>
            <a:gdLst/>
            <a:ahLst/>
            <a:cxnLst/>
            <a:rect l="l" t="t" r="r" b="b"/>
            <a:pathLst>
              <a:path w="6426772" h="6426772">
                <a:moveTo>
                  <a:pt x="0" y="0"/>
                </a:moveTo>
                <a:lnTo>
                  <a:pt x="6426772" y="0"/>
                </a:lnTo>
                <a:lnTo>
                  <a:pt x="6426772" y="6426772"/>
                </a:lnTo>
                <a:lnTo>
                  <a:pt x="0" y="6426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3602768" y="532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2421705" y="682116"/>
            <a:ext cx="490244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b="1" spc="-150">
                <a:solidFill>
                  <a:srgbClr val="1484E1"/>
                </a:solidFill>
                <a:latin typeface="Aileron Bold"/>
                <a:ea typeface="Aileron Bold"/>
                <a:cs typeface="Aileron Bold"/>
                <a:sym typeface="Aileron Bold"/>
              </a:rPr>
              <a:t>OBSTACULOS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22963" y="2992071"/>
            <a:ext cx="1117447" cy="80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US" sz="6483" b="1" spc="-194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91668" y="5491510"/>
            <a:ext cx="1117447" cy="80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US" sz="6483" b="1" spc="-194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09636" y="8230583"/>
            <a:ext cx="1117447" cy="80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US" sz="6483" b="1" spc="-194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61401" y="5504923"/>
            <a:ext cx="3691086" cy="79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62"/>
              </a:lnSpc>
            </a:pPr>
            <a:r>
              <a:rPr lang="en-US" sz="2258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CAMBIOS DE PROYECTO INESPERADOS.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62953" y="3022909"/>
            <a:ext cx="5318669" cy="79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62"/>
              </a:lnSpc>
            </a:pPr>
            <a:r>
              <a:rPr lang="en-US" sz="2258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EXTRACCIÓN DE DATOS DE CIERTAS FARMACIAS.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32584" y="8402341"/>
            <a:ext cx="4484984" cy="79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62"/>
              </a:lnSpc>
            </a:pPr>
            <a:r>
              <a:rPr lang="en-US" sz="2258" b="1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TRABAJO REMOTO Y HUSOS HORARIOS.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356669" y="135515"/>
            <a:ext cx="1639034" cy="1387860"/>
            <a:chOff x="0" y="0"/>
            <a:chExt cx="1116595" cy="9454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6595" cy="945482"/>
            </a:xfrm>
            <a:custGeom>
              <a:avLst/>
              <a:gdLst/>
              <a:ahLst/>
              <a:cxnLst/>
              <a:rect l="l" t="t" r="r" b="b"/>
              <a:pathLst>
                <a:path w="1116595" h="945482">
                  <a:moveTo>
                    <a:pt x="372400" y="19070"/>
                  </a:moveTo>
                  <a:cubicBezTo>
                    <a:pt x="429460" y="7556"/>
                    <a:pt x="494725" y="0"/>
                    <a:pt x="558598" y="0"/>
                  </a:cubicBezTo>
                  <a:cubicBezTo>
                    <a:pt x="622474" y="0"/>
                    <a:pt x="683938" y="6476"/>
                    <a:pt x="740580" y="17990"/>
                  </a:cubicBezTo>
                  <a:cubicBezTo>
                    <a:pt x="741786" y="18350"/>
                    <a:pt x="742991" y="18350"/>
                    <a:pt x="744196" y="18710"/>
                  </a:cubicBezTo>
                  <a:cubicBezTo>
                    <a:pt x="956909" y="64765"/>
                    <a:pt x="1113583" y="186379"/>
                    <a:pt x="1116595" y="331449"/>
                  </a:cubicBezTo>
                  <a:lnTo>
                    <a:pt x="1116595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3013" y="185660"/>
                    <a:pt x="157275" y="64045"/>
                    <a:pt x="372400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9850"/>
              <a:ext cx="1116595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56669" y="618422"/>
            <a:ext cx="1639034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183" y="129674"/>
            <a:ext cx="1639034" cy="1387860"/>
            <a:chOff x="0" y="0"/>
            <a:chExt cx="1116595" cy="945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6595" cy="945482"/>
            </a:xfrm>
            <a:custGeom>
              <a:avLst/>
              <a:gdLst/>
              <a:ahLst/>
              <a:cxnLst/>
              <a:rect l="l" t="t" r="r" b="b"/>
              <a:pathLst>
                <a:path w="1116595" h="945482">
                  <a:moveTo>
                    <a:pt x="372400" y="19070"/>
                  </a:moveTo>
                  <a:cubicBezTo>
                    <a:pt x="429460" y="7556"/>
                    <a:pt x="494725" y="0"/>
                    <a:pt x="558598" y="0"/>
                  </a:cubicBezTo>
                  <a:cubicBezTo>
                    <a:pt x="622474" y="0"/>
                    <a:pt x="683938" y="6476"/>
                    <a:pt x="740580" y="17990"/>
                  </a:cubicBezTo>
                  <a:cubicBezTo>
                    <a:pt x="741786" y="18350"/>
                    <a:pt x="742991" y="18350"/>
                    <a:pt x="744196" y="18710"/>
                  </a:cubicBezTo>
                  <a:cubicBezTo>
                    <a:pt x="956909" y="64765"/>
                    <a:pt x="1113583" y="186379"/>
                    <a:pt x="1116595" y="331449"/>
                  </a:cubicBezTo>
                  <a:lnTo>
                    <a:pt x="1116595" y="945482"/>
                  </a:lnTo>
                  <a:lnTo>
                    <a:pt x="0" y="945482"/>
                  </a:lnTo>
                  <a:lnTo>
                    <a:pt x="0" y="331905"/>
                  </a:lnTo>
                  <a:cubicBezTo>
                    <a:pt x="3013" y="185660"/>
                    <a:pt x="157275" y="64045"/>
                    <a:pt x="372400" y="19070"/>
                  </a:cubicBezTo>
                  <a:close/>
                </a:path>
              </a:pathLst>
            </a:custGeom>
            <a:solidFill>
              <a:srgbClr val="ABF8D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9850"/>
              <a:ext cx="1116595" cy="87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9183" y="1669934"/>
            <a:ext cx="11301259" cy="4986681"/>
          </a:xfrm>
          <a:custGeom>
            <a:avLst/>
            <a:gdLst/>
            <a:ahLst/>
            <a:cxnLst/>
            <a:rect l="l" t="t" r="r" b="b"/>
            <a:pathLst>
              <a:path w="11301259" h="4986681">
                <a:moveTo>
                  <a:pt x="0" y="0"/>
                </a:moveTo>
                <a:lnTo>
                  <a:pt x="11301259" y="0"/>
                </a:lnTo>
                <a:lnTo>
                  <a:pt x="11301259" y="4986680"/>
                </a:lnTo>
                <a:lnTo>
                  <a:pt x="0" y="49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6730367" y="5891189"/>
            <a:ext cx="11301259" cy="4011947"/>
          </a:xfrm>
          <a:custGeom>
            <a:avLst/>
            <a:gdLst/>
            <a:ahLst/>
            <a:cxnLst/>
            <a:rect l="l" t="t" r="r" b="b"/>
            <a:pathLst>
              <a:path w="11301259" h="4011947">
                <a:moveTo>
                  <a:pt x="0" y="0"/>
                </a:moveTo>
                <a:lnTo>
                  <a:pt x="11301259" y="0"/>
                </a:lnTo>
                <a:lnTo>
                  <a:pt x="11301259" y="4011947"/>
                </a:lnTo>
                <a:lnTo>
                  <a:pt x="0" y="4011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274220" y="676275"/>
            <a:ext cx="490244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b="1" spc="-150">
                <a:solidFill>
                  <a:srgbClr val="1484E1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183" y="612581"/>
            <a:ext cx="1639034" cy="90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7463" b="1" spc="-223">
                <a:solidFill>
                  <a:srgbClr val="1F7F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/13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6826" y="6968276"/>
            <a:ext cx="5151239" cy="266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1"/>
              </a:lnSpc>
            </a:pPr>
            <a:r>
              <a:rPr lang="en-US" sz="5079" b="1">
                <a:solidFill>
                  <a:srgbClr val="1B1464"/>
                </a:solidFill>
                <a:latin typeface="Aileron Bold"/>
                <a:ea typeface="Aileron Bold"/>
                <a:cs typeface="Aileron Bold"/>
                <a:sym typeface="Aileron Bold"/>
              </a:rPr>
              <a:t>250% MÁS CARO</a:t>
            </a:r>
          </a:p>
          <a:p>
            <a:pPr algn="ctr">
              <a:lnSpc>
                <a:spcPts val="7111"/>
              </a:lnSpc>
            </a:pPr>
            <a:endParaRPr lang="en-US" sz="5079" b="1">
              <a:solidFill>
                <a:srgbClr val="1B1464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ctr">
              <a:lnSpc>
                <a:spcPts val="7111"/>
              </a:lnSpc>
              <a:spcBef>
                <a:spcPct val="0"/>
              </a:spcBef>
            </a:pPr>
            <a:endParaRPr lang="en-US" sz="5079" b="1">
              <a:solidFill>
                <a:srgbClr val="1B1464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265476" y="8180252"/>
            <a:ext cx="6995844" cy="87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1"/>
              </a:lnSpc>
              <a:spcBef>
                <a:spcPct val="0"/>
              </a:spcBef>
            </a:pPr>
            <a:r>
              <a:rPr lang="en-US" sz="5079" b="1">
                <a:solidFill>
                  <a:srgbClr val="1B1464"/>
                </a:solidFill>
                <a:latin typeface="Aileron Bold"/>
                <a:ea typeface="Aileron Bold"/>
                <a:cs typeface="Aileron Bold"/>
                <a:sym typeface="Aileron Bold"/>
              </a:rPr>
              <a:t>$2.880   VS   $7.215</a:t>
            </a:r>
          </a:p>
        </p:txBody>
      </p:sp>
      <p:sp>
        <p:nvSpPr>
          <p:cNvPr id="11" name="Freeform 11"/>
          <p:cNvSpPr/>
          <p:nvPr/>
        </p:nvSpPr>
        <p:spPr>
          <a:xfrm rot="286976">
            <a:off x="12821684" y="568295"/>
            <a:ext cx="4613671" cy="4613671"/>
          </a:xfrm>
          <a:custGeom>
            <a:avLst/>
            <a:gdLst/>
            <a:ahLst/>
            <a:cxnLst/>
            <a:rect l="l" t="t" r="r" b="b"/>
            <a:pathLst>
              <a:path w="4613671" h="4613671">
                <a:moveTo>
                  <a:pt x="0" y="0"/>
                </a:moveTo>
                <a:lnTo>
                  <a:pt x="4613672" y="0"/>
                </a:lnTo>
                <a:lnTo>
                  <a:pt x="4613672" y="4613671"/>
                </a:lnTo>
                <a:lnTo>
                  <a:pt x="0" y="4613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9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655" y="461995"/>
            <a:ext cx="17322690" cy="9363009"/>
            <a:chOff x="0" y="0"/>
            <a:chExt cx="4562355" cy="24659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2354" cy="2465978"/>
            </a:xfrm>
            <a:custGeom>
              <a:avLst/>
              <a:gdLst/>
              <a:ahLst/>
              <a:cxnLst/>
              <a:rect l="l" t="t" r="r" b="b"/>
              <a:pathLst>
                <a:path w="4562354" h="2465978">
                  <a:moveTo>
                    <a:pt x="1788" y="0"/>
                  </a:moveTo>
                  <a:lnTo>
                    <a:pt x="4560567" y="0"/>
                  </a:lnTo>
                  <a:cubicBezTo>
                    <a:pt x="4561554" y="0"/>
                    <a:pt x="4562354" y="800"/>
                    <a:pt x="4562354" y="1788"/>
                  </a:cubicBezTo>
                  <a:lnTo>
                    <a:pt x="4562354" y="2464190"/>
                  </a:lnTo>
                  <a:cubicBezTo>
                    <a:pt x="4562354" y="2465177"/>
                    <a:pt x="4561554" y="2465978"/>
                    <a:pt x="4560567" y="2465978"/>
                  </a:cubicBezTo>
                  <a:lnTo>
                    <a:pt x="1788" y="2465978"/>
                  </a:lnTo>
                  <a:cubicBezTo>
                    <a:pt x="800" y="2465978"/>
                    <a:pt x="0" y="2465177"/>
                    <a:pt x="0" y="2464190"/>
                  </a:cubicBezTo>
                  <a:lnTo>
                    <a:pt x="0" y="1788"/>
                  </a:lnTo>
                  <a:cubicBezTo>
                    <a:pt x="0" y="800"/>
                    <a:pt x="800" y="0"/>
                    <a:pt x="1788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D5EBE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2355" cy="2504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95167" flipH="1">
            <a:off x="796127" y="-593602"/>
            <a:ext cx="3755836" cy="5351579"/>
          </a:xfrm>
          <a:custGeom>
            <a:avLst/>
            <a:gdLst/>
            <a:ahLst/>
            <a:cxnLst/>
            <a:rect l="l" t="t" r="r" b="b"/>
            <a:pathLst>
              <a:path w="3755836" h="5351579">
                <a:moveTo>
                  <a:pt x="3755836" y="0"/>
                </a:moveTo>
                <a:lnTo>
                  <a:pt x="0" y="0"/>
                </a:lnTo>
                <a:lnTo>
                  <a:pt x="0" y="5351579"/>
                </a:lnTo>
                <a:lnTo>
                  <a:pt x="3755836" y="5351579"/>
                </a:lnTo>
                <a:lnTo>
                  <a:pt x="37558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1072568">
            <a:off x="15091941" y="6269992"/>
            <a:ext cx="2423078" cy="5417451"/>
          </a:xfrm>
          <a:custGeom>
            <a:avLst/>
            <a:gdLst/>
            <a:ahLst/>
            <a:cxnLst/>
            <a:rect l="l" t="t" r="r" b="b"/>
            <a:pathLst>
              <a:path w="2423078" h="5417451">
                <a:moveTo>
                  <a:pt x="0" y="0"/>
                </a:moveTo>
                <a:lnTo>
                  <a:pt x="2423078" y="0"/>
                </a:lnTo>
                <a:lnTo>
                  <a:pt x="2423078" y="5417451"/>
                </a:lnTo>
                <a:lnTo>
                  <a:pt x="0" y="5417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127877" y="7810902"/>
            <a:ext cx="3142196" cy="1776769"/>
          </a:xfrm>
          <a:custGeom>
            <a:avLst/>
            <a:gdLst/>
            <a:ahLst/>
            <a:cxnLst/>
            <a:rect l="l" t="t" r="r" b="b"/>
            <a:pathLst>
              <a:path w="3142196" h="1776769">
                <a:moveTo>
                  <a:pt x="0" y="0"/>
                </a:moveTo>
                <a:lnTo>
                  <a:pt x="3142196" y="0"/>
                </a:lnTo>
                <a:lnTo>
                  <a:pt x="3142196" y="1776770"/>
                </a:lnTo>
                <a:lnTo>
                  <a:pt x="0" y="1776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373457" flipH="1">
            <a:off x="14406018" y="627098"/>
            <a:ext cx="3142196" cy="1776769"/>
          </a:xfrm>
          <a:custGeom>
            <a:avLst/>
            <a:gdLst/>
            <a:ahLst/>
            <a:cxnLst/>
            <a:rect l="l" t="t" r="r" b="b"/>
            <a:pathLst>
              <a:path w="3142196" h="1776769">
                <a:moveTo>
                  <a:pt x="3142196" y="0"/>
                </a:moveTo>
                <a:lnTo>
                  <a:pt x="0" y="0"/>
                </a:lnTo>
                <a:lnTo>
                  <a:pt x="0" y="1776770"/>
                </a:lnTo>
                <a:lnTo>
                  <a:pt x="3142196" y="1776770"/>
                </a:lnTo>
                <a:lnTo>
                  <a:pt x="31421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3803126" y="6070729"/>
            <a:ext cx="10854634" cy="102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0"/>
              </a:lnSpc>
            </a:pPr>
            <a:r>
              <a:rPr lang="en-US" sz="6938">
                <a:solidFill>
                  <a:srgbClr val="000012"/>
                </a:solidFill>
                <a:latin typeface="Aileron"/>
                <a:ea typeface="Aileron"/>
                <a:cs typeface="Aileron"/>
                <a:sym typeface="Aileron"/>
              </a:rPr>
              <a:t>De la Comisión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76133" y="4074590"/>
            <a:ext cx="12308620" cy="159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32"/>
              </a:lnSpc>
            </a:pPr>
            <a:r>
              <a:rPr lang="en-US" sz="10905">
                <a:solidFill>
                  <a:srgbClr val="000012"/>
                </a:solidFill>
                <a:latin typeface="Aileron"/>
                <a:ea typeface="Aileron"/>
                <a:cs typeface="Aileron"/>
                <a:sym typeface="Aileron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595</Words>
  <Application>Microsoft Office PowerPoint</Application>
  <PresentationFormat>Personalizado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Aileron Bold</vt:lpstr>
      <vt:lpstr>Aileron Ultra-Bold</vt:lpstr>
      <vt:lpstr>Calibri</vt:lpstr>
      <vt:lpstr>Aileron</vt:lpstr>
      <vt:lpstr>Arial</vt:lpstr>
      <vt:lpstr>Sniglet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Presentación_Capstone</dc:title>
  <cp:lastModifiedBy>Jose Orlando Rojas Mallea</cp:lastModifiedBy>
  <cp:revision>2</cp:revision>
  <dcterms:created xsi:type="dcterms:W3CDTF">2006-08-16T00:00:00Z</dcterms:created>
  <dcterms:modified xsi:type="dcterms:W3CDTF">2025-12-04T20:49:14Z</dcterms:modified>
  <dc:identifier>DAG5uJVQK6U</dc:identifier>
</cp:coreProperties>
</file>