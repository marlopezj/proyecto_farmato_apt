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Bold" charset="1" panose="00000800000000000000"/>
      <p:regular r:id="rId12"/>
    </p:embeddedFont>
    <p:embeddedFont>
      <p:font typeface="Montserrat" charset="1" panose="00000500000000000000"/>
      <p:regular r:id="rId13"/>
    </p:embeddedFont>
    <p:embeddedFont>
      <p:font typeface="Montserrat Bold Italics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6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92740"/>
          </a:xfrm>
          <a:custGeom>
            <a:avLst/>
            <a:gdLst/>
            <a:ahLst/>
            <a:cxnLst/>
            <a:rect r="r" b="b" t="t" l="l"/>
            <a:pathLst>
              <a:path h="10492740" w="18288000">
                <a:moveTo>
                  <a:pt x="0" y="0"/>
                </a:moveTo>
                <a:lnTo>
                  <a:pt x="18288000" y="0"/>
                </a:lnTo>
                <a:lnTo>
                  <a:pt x="18288000" y="10492740"/>
                </a:lnTo>
                <a:lnTo>
                  <a:pt x="0" y="104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50000"/>
                  </a:srgbClr>
                </a:gs>
                <a:gs pos="100000">
                  <a:srgbClr val="004AAD">
                    <a:alpha val="5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03452" y="1526783"/>
            <a:ext cx="1881096" cy="1881096"/>
          </a:xfrm>
          <a:custGeom>
            <a:avLst/>
            <a:gdLst/>
            <a:ahLst/>
            <a:cxnLst/>
            <a:rect r="r" b="b" t="t" l="l"/>
            <a:pathLst>
              <a:path h="1881096" w="1881096">
                <a:moveTo>
                  <a:pt x="0" y="0"/>
                </a:moveTo>
                <a:lnTo>
                  <a:pt x="1881096" y="0"/>
                </a:lnTo>
                <a:lnTo>
                  <a:pt x="1881096" y="1881096"/>
                </a:lnTo>
                <a:lnTo>
                  <a:pt x="0" y="18810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30699" y="3086100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0" y="0"/>
                </a:moveTo>
                <a:lnTo>
                  <a:pt x="6884598" y="0"/>
                </a:lnTo>
                <a:lnTo>
                  <a:pt x="6884598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-229311" y="-192571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6884598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6884598" y="0"/>
                </a:lnTo>
                <a:lnTo>
                  <a:pt x="6884598" y="720090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04451" y="3160229"/>
            <a:ext cx="9079098" cy="220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0"/>
              </a:lnSpc>
            </a:pPr>
            <a:r>
              <a:rPr lang="en-US" b="true" sz="128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FARMATO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14328" y="6648450"/>
            <a:ext cx="545934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Martin Lopez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Marcelo Saavedra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José Rojas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Pablo Loaiza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5" t="-13236" r="-291873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50463" y="-689664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6884598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6884598" y="0"/>
                </a:lnTo>
                <a:lnTo>
                  <a:pt x="6884598" y="720090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77395" y="0"/>
            <a:ext cx="7859844" cy="10287000"/>
            <a:chOff x="0" y="0"/>
            <a:chExt cx="2070082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00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70082">
                  <a:moveTo>
                    <a:pt x="0" y="0"/>
                  </a:moveTo>
                  <a:lnTo>
                    <a:pt x="2070082" y="0"/>
                  </a:lnTo>
                  <a:lnTo>
                    <a:pt x="20700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700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487824" y="3223660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0" y="0"/>
                </a:moveTo>
                <a:lnTo>
                  <a:pt x="6884598" y="0"/>
                </a:lnTo>
                <a:lnTo>
                  <a:pt x="6884598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90851" y="390729"/>
            <a:ext cx="2832931" cy="2832931"/>
          </a:xfrm>
          <a:custGeom>
            <a:avLst/>
            <a:gdLst/>
            <a:ahLst/>
            <a:cxnLst/>
            <a:rect r="r" b="b" t="t" l="l"/>
            <a:pathLst>
              <a:path h="2832931" w="2832931">
                <a:moveTo>
                  <a:pt x="0" y="0"/>
                </a:moveTo>
                <a:lnTo>
                  <a:pt x="2832931" y="0"/>
                </a:lnTo>
                <a:lnTo>
                  <a:pt x="2832931" y="2832931"/>
                </a:lnTo>
                <a:lnTo>
                  <a:pt x="0" y="2832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76718" y="6511236"/>
            <a:ext cx="2747064" cy="2747064"/>
          </a:xfrm>
          <a:custGeom>
            <a:avLst/>
            <a:gdLst/>
            <a:ahLst/>
            <a:cxnLst/>
            <a:rect r="r" b="b" t="t" l="l"/>
            <a:pathLst>
              <a:path h="2747064" w="2747064">
                <a:moveTo>
                  <a:pt x="0" y="0"/>
                </a:moveTo>
                <a:lnTo>
                  <a:pt x="2747064" y="0"/>
                </a:lnTo>
                <a:lnTo>
                  <a:pt x="2747064" y="2747064"/>
                </a:lnTo>
                <a:lnTo>
                  <a:pt x="0" y="2747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24066" y="4284197"/>
            <a:ext cx="1166501" cy="1166501"/>
          </a:xfrm>
          <a:custGeom>
            <a:avLst/>
            <a:gdLst/>
            <a:ahLst/>
            <a:cxnLst/>
            <a:rect r="r" b="b" t="t" l="l"/>
            <a:pathLst>
              <a:path h="1166501" w="1166501">
                <a:moveTo>
                  <a:pt x="0" y="0"/>
                </a:moveTo>
                <a:lnTo>
                  <a:pt x="1166501" y="0"/>
                </a:lnTo>
                <a:lnTo>
                  <a:pt x="1166501" y="1166501"/>
                </a:lnTo>
                <a:lnTo>
                  <a:pt x="0" y="11665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21030" y="2064231"/>
            <a:ext cx="6053941" cy="94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7774" y="3905245"/>
            <a:ext cx="6660452" cy="393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Farmato es una plataforma que centraliza información de medicamentos, permitiendo consultar precios, y datos relevantes. Facilita comparaciones rápidas y ayuda a los usuarios a tomar decisiones informadas sobre sus medicamentos.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44" y="926121"/>
            <a:ext cx="17728712" cy="8834808"/>
          </a:xfrm>
          <a:custGeom>
            <a:avLst/>
            <a:gdLst/>
            <a:ahLst/>
            <a:cxnLst/>
            <a:rect r="r" b="b" t="t" l="l"/>
            <a:pathLst>
              <a:path h="8834808" w="17728712">
                <a:moveTo>
                  <a:pt x="0" y="0"/>
                </a:moveTo>
                <a:lnTo>
                  <a:pt x="17728712" y="0"/>
                </a:lnTo>
                <a:lnTo>
                  <a:pt x="17728712" y="8834808"/>
                </a:lnTo>
                <a:lnTo>
                  <a:pt x="0" y="8834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8500" y="199135"/>
            <a:ext cx="8651000" cy="4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b="true" sz="2800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BASE DE DATOS RELACIONAL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50643" y="783762"/>
            <a:ext cx="1109053" cy="1109053"/>
            <a:chOff x="0" y="0"/>
            <a:chExt cx="1478738" cy="14787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78738" cy="147873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4316" y="224316"/>
              <a:ext cx="1030107" cy="103010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88578" y="194432"/>
              <a:ext cx="301582" cy="100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0"/>
                </a:lnSpc>
              </a:pPr>
              <a:r>
                <a:rPr lang="en-US" sz="4543" b="true">
                  <a:solidFill>
                    <a:srgbClr val="4575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460317" y="3193768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0" y="0"/>
                </a:moveTo>
                <a:lnTo>
                  <a:pt x="6884598" y="0"/>
                </a:lnTo>
                <a:lnTo>
                  <a:pt x="6884598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50643" y="2574784"/>
            <a:ext cx="1109053" cy="1109053"/>
            <a:chOff x="0" y="0"/>
            <a:chExt cx="1478738" cy="147873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78738" cy="147873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24316" y="224316"/>
              <a:ext cx="1030107" cy="103010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37778" y="194432"/>
              <a:ext cx="301582" cy="100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0"/>
                </a:lnSpc>
              </a:pPr>
              <a:r>
                <a:rPr lang="en-US" sz="4543" b="true">
                  <a:solidFill>
                    <a:srgbClr val="4575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50643" y="4489681"/>
            <a:ext cx="1109053" cy="1109053"/>
            <a:chOff x="0" y="0"/>
            <a:chExt cx="1478738" cy="147873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478738" cy="147873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24316" y="224316"/>
              <a:ext cx="1030107" cy="103010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37778" y="194432"/>
              <a:ext cx="301582" cy="100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0"/>
                </a:lnSpc>
              </a:pPr>
              <a:r>
                <a:rPr lang="en-US" sz="4543" b="true">
                  <a:solidFill>
                    <a:srgbClr val="4575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27235" y="6403058"/>
            <a:ext cx="1109053" cy="1109053"/>
            <a:chOff x="0" y="0"/>
            <a:chExt cx="1478738" cy="147873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478738" cy="147873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24316" y="224316"/>
              <a:ext cx="1030107" cy="103010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74278" y="194432"/>
              <a:ext cx="301582" cy="100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0"/>
                </a:lnSpc>
              </a:pPr>
              <a:r>
                <a:rPr lang="en-US" sz="4543" b="true">
                  <a:solidFill>
                    <a:srgbClr val="4575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50643" y="8316534"/>
            <a:ext cx="1109053" cy="1109053"/>
            <a:chOff x="0" y="0"/>
            <a:chExt cx="1478738" cy="147873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478738" cy="147873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24316" y="224316"/>
              <a:ext cx="1030107" cy="1030107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25078" y="194432"/>
              <a:ext cx="301582" cy="100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0"/>
                </a:lnSpc>
              </a:pPr>
              <a:r>
                <a:rPr lang="en-US" sz="4543" b="true">
                  <a:solidFill>
                    <a:srgbClr val="4575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982884" y="3306188"/>
            <a:ext cx="5250905" cy="4114800"/>
          </a:xfrm>
          <a:custGeom>
            <a:avLst/>
            <a:gdLst/>
            <a:ahLst/>
            <a:cxnLst/>
            <a:rect r="r" b="b" t="t" l="l"/>
            <a:pathLst>
              <a:path h="4114800" w="5250905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66242" y="641227"/>
            <a:ext cx="6284189" cy="94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51"/>
              </a:lnSpc>
            </a:pPr>
            <a:r>
              <a:rPr lang="en-US" b="true" sz="5465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DIAGRAMAS 4+1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07647" y="1275424"/>
            <a:ext cx="5018377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Funciones principales del sistema y como los usuarios interactuan con él.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07647" y="736137"/>
            <a:ext cx="501837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casos de uso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7647" y="2527159"/>
            <a:ext cx="4694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objetos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907647" y="4442056"/>
            <a:ext cx="522128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Componentes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84238" y="6894720"/>
            <a:ext cx="5018377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Flujo de mensajes entre objetos para explicar como se ejecuta un proceso paso a paso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884238" y="6355433"/>
            <a:ext cx="443058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Secuencia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07647" y="8268909"/>
            <a:ext cx="387229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Despliegue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84238" y="8812470"/>
            <a:ext cx="5018377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Distribución de los componentes del sistema en la infraestructura fisica o serviores.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907647" y="4985616"/>
            <a:ext cx="50183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Describe la  Estructura interna del sistema mediante sus componentes principales y las conexiones o dependencias que los vinculan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907647" y="3006695"/>
            <a:ext cx="50183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Muestra como se organizan los elementos del sistema, presentando ejemplos de objetos y como se conectan entre sí..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82884" y="7887446"/>
            <a:ext cx="4500646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Diagramas: https://drive.google.com/file/d/16hmSEKo_G9mr4U8HKz8954etjxnqJy2A/view?usp=drive_link</a:t>
            </a:r>
          </a:p>
          <a:p>
            <a:pPr algn="l">
              <a:lnSpc>
                <a:spcPts val="19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5" t="-13236" r="-2918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955" y="4983310"/>
            <a:ext cx="2341613" cy="193183"/>
          </a:xfrm>
          <a:custGeom>
            <a:avLst/>
            <a:gdLst/>
            <a:ahLst/>
            <a:cxnLst/>
            <a:rect r="r" b="b" t="t" l="l"/>
            <a:pathLst>
              <a:path h="193183" w="2341613">
                <a:moveTo>
                  <a:pt x="0" y="0"/>
                </a:moveTo>
                <a:lnTo>
                  <a:pt x="2341613" y="0"/>
                </a:lnTo>
                <a:lnTo>
                  <a:pt x="2341613" y="193183"/>
                </a:lnTo>
                <a:lnTo>
                  <a:pt x="0" y="193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33850" y="0"/>
            <a:ext cx="9544094" cy="10287000"/>
            <a:chOff x="0" y="0"/>
            <a:chExt cx="251367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367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13671">
                  <a:moveTo>
                    <a:pt x="0" y="0"/>
                  </a:moveTo>
                  <a:lnTo>
                    <a:pt x="2513671" y="0"/>
                  </a:lnTo>
                  <a:lnTo>
                    <a:pt x="251367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1367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487824" y="3223660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0" y="0"/>
                </a:moveTo>
                <a:lnTo>
                  <a:pt x="6884598" y="0"/>
                </a:lnTo>
                <a:lnTo>
                  <a:pt x="6884598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22174" y="4446244"/>
            <a:ext cx="2908704" cy="2377866"/>
          </a:xfrm>
          <a:custGeom>
            <a:avLst/>
            <a:gdLst/>
            <a:ahLst/>
            <a:cxnLst/>
            <a:rect r="r" b="b" t="t" l="l"/>
            <a:pathLst>
              <a:path h="2377866" w="2908704">
                <a:moveTo>
                  <a:pt x="0" y="0"/>
                </a:moveTo>
                <a:lnTo>
                  <a:pt x="2908704" y="0"/>
                </a:lnTo>
                <a:lnTo>
                  <a:pt x="2908704" y="2377866"/>
                </a:lnTo>
                <a:lnTo>
                  <a:pt x="0" y="2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66425" y="7082799"/>
            <a:ext cx="2764453" cy="2536386"/>
          </a:xfrm>
          <a:custGeom>
            <a:avLst/>
            <a:gdLst/>
            <a:ahLst/>
            <a:cxnLst/>
            <a:rect r="r" b="b" t="t" l="l"/>
            <a:pathLst>
              <a:path h="2536386" w="2764453">
                <a:moveTo>
                  <a:pt x="0" y="0"/>
                </a:moveTo>
                <a:lnTo>
                  <a:pt x="2764453" y="0"/>
                </a:lnTo>
                <a:lnTo>
                  <a:pt x="2764453" y="2536386"/>
                </a:lnTo>
                <a:lnTo>
                  <a:pt x="0" y="2536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73052" y="4734481"/>
            <a:ext cx="5476441" cy="1341728"/>
          </a:xfrm>
          <a:custGeom>
            <a:avLst/>
            <a:gdLst/>
            <a:ahLst/>
            <a:cxnLst/>
            <a:rect r="r" b="b" t="t" l="l"/>
            <a:pathLst>
              <a:path h="1341728" w="5476441">
                <a:moveTo>
                  <a:pt x="0" y="0"/>
                </a:moveTo>
                <a:lnTo>
                  <a:pt x="5476441" y="0"/>
                </a:lnTo>
                <a:lnTo>
                  <a:pt x="5476441" y="1341728"/>
                </a:lnTo>
                <a:lnTo>
                  <a:pt x="0" y="13417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22067" y="7082799"/>
            <a:ext cx="6421229" cy="2536386"/>
          </a:xfrm>
          <a:custGeom>
            <a:avLst/>
            <a:gdLst/>
            <a:ahLst/>
            <a:cxnLst/>
            <a:rect r="r" b="b" t="t" l="l"/>
            <a:pathLst>
              <a:path h="2536386" w="6421229">
                <a:moveTo>
                  <a:pt x="0" y="0"/>
                </a:moveTo>
                <a:lnTo>
                  <a:pt x="6421229" y="0"/>
                </a:lnTo>
                <a:lnTo>
                  <a:pt x="6421229" y="2536386"/>
                </a:lnTo>
                <a:lnTo>
                  <a:pt x="0" y="2536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2876" y="3038547"/>
            <a:ext cx="7250411" cy="130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Nuestro scrapper es un módulo que visita automáticamente las páginas de distintas farmacias y extrae la información de los medicamentos que necesitamos para nuestro sistema.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2955" y="519637"/>
            <a:ext cx="6660452" cy="191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i="true" b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Scraper de Farmacias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2876" y="5367245"/>
            <a:ext cx="6660452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Obtener el nombre del medicamento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Recolectar el precio normal y precio en oferta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Identificar la farmacia donde se vende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Guardar la imagen del producto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Registrar la fecha en que se obtuvo la información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Todo esto queda guardado en nuestra base datos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999411" y="329052"/>
            <a:ext cx="5364431" cy="50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b="true" sz="2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Ficha Técnica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4837" y="1195060"/>
            <a:ext cx="8730853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</a:t>
            </a: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thon – lenguaje principal del scrapper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Requests – para obtener la página web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BeautifulSoup – para leer y extraer los datos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JSON / Diccionarios – para ordenar la información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 – para guardar los datos en la base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90660" y="-183979"/>
            <a:ext cx="6884598" cy="7200900"/>
          </a:xfrm>
          <a:custGeom>
            <a:avLst/>
            <a:gdLst/>
            <a:ahLst/>
            <a:cxnLst/>
            <a:rect r="r" b="b" t="t" l="l"/>
            <a:pathLst>
              <a:path h="7200900" w="6884598">
                <a:moveTo>
                  <a:pt x="6884598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6884598" y="0"/>
                </a:lnTo>
                <a:lnTo>
                  <a:pt x="6884598" y="720090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6242" y="3963725"/>
            <a:ext cx="2341613" cy="193183"/>
          </a:xfrm>
          <a:custGeom>
            <a:avLst/>
            <a:gdLst/>
            <a:ahLst/>
            <a:cxnLst/>
            <a:rect r="r" b="b" t="t" l="l"/>
            <a:pathLst>
              <a:path h="193183" w="2341613">
                <a:moveTo>
                  <a:pt x="0" y="0"/>
                </a:moveTo>
                <a:lnTo>
                  <a:pt x="2341613" y="0"/>
                </a:lnTo>
                <a:lnTo>
                  <a:pt x="2341613" y="193183"/>
                </a:lnTo>
                <a:lnTo>
                  <a:pt x="0" y="193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23595" y="1193886"/>
            <a:ext cx="6235705" cy="7899229"/>
          </a:xfrm>
          <a:custGeom>
            <a:avLst/>
            <a:gdLst/>
            <a:ahLst/>
            <a:cxnLst/>
            <a:rect r="r" b="b" t="t" l="l"/>
            <a:pathLst>
              <a:path h="7899229" w="6235705">
                <a:moveTo>
                  <a:pt x="0" y="0"/>
                </a:moveTo>
                <a:lnTo>
                  <a:pt x="6235705" y="0"/>
                </a:lnTo>
                <a:lnTo>
                  <a:pt x="6235705" y="7899228"/>
                </a:lnTo>
                <a:lnTo>
                  <a:pt x="0" y="7899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6242" y="1629828"/>
            <a:ext cx="6317285" cy="94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b="true">
                <a:solidFill>
                  <a:srgbClr val="4575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DEMOSTRACIÓN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6242" y="4528383"/>
            <a:ext cx="6660452" cy="195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575A6"/>
                </a:solidFill>
                <a:latin typeface="Montserrat"/>
                <a:ea typeface="Montserrat"/>
                <a:cs typeface="Montserrat"/>
                <a:sym typeface="Montserrat"/>
              </a:rPr>
              <a:t>A continuación, mostraremos el sistema en funcionamiento, destacando sus principales características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7742" y="6860153"/>
            <a:ext cx="4897637" cy="52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Achievement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DAG4-S-pALM</dc:identifier>
  <dcterms:modified xsi:type="dcterms:W3CDTF">2011-08-01T06:04:30Z</dcterms:modified>
  <cp:revision>1</cp:revision>
  <dc:title>Presentación Final del proyecto (Español)</dc:title>
</cp:coreProperties>
</file>