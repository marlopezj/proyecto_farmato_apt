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ocomat Pro Heavy" charset="1" panose="00000A00000000000000"/>
      <p:regular r:id="rId15"/>
    </p:embeddedFont>
    <p:embeddedFont>
      <p:font typeface="Arimo Bold" charset="1" panose="020B0704020202020204"/>
      <p:regular r:id="rId16"/>
    </p:embeddedFont>
    <p:embeddedFont>
      <p:font typeface="Arimo" charset="1" panose="020B0604020202020204"/>
      <p:regular r:id="rId17"/>
    </p:embeddedFont>
    <p:embeddedFont>
      <p:font typeface="Cocomat Pro Bold" charset="1" panose="00000700000000000000"/>
      <p:regular r:id="rId18"/>
    </p:embeddedFont>
    <p:embeddedFont>
      <p:font typeface="Questrial" charset="1" panose="02000000000000000000"/>
      <p:regular r:id="rId19"/>
    </p:embeddedFont>
    <p:embeddedFont>
      <p:font typeface="Cocomat Pro" charset="1" panose="00000500000000000000"/>
      <p:regular r:id="rId20"/>
    </p:embeddedFont>
    <p:embeddedFont>
      <p:font typeface="Open Sans Bold" charset="1" panose="020B0806030504020204"/>
      <p:regular r:id="rId21"/>
    </p:embeddedFont>
    <p:embeddedFont>
      <p:font typeface="Open Sans" charset="1" panose="020B0606030504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3B6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623726">
            <a:off x="1232485" y="757450"/>
            <a:ext cx="3621875" cy="2588215"/>
            <a:chOff x="0" y="0"/>
            <a:chExt cx="4829167" cy="3450953"/>
          </a:xfrm>
        </p:grpSpPr>
        <p:sp>
          <p:nvSpPr>
            <p:cNvPr name="Freeform 3" id="3"/>
            <p:cNvSpPr/>
            <p:nvPr/>
          </p:nvSpPr>
          <p:spPr>
            <a:xfrm flipH="false" flipV="false" rot="-76395">
              <a:off x="35082" y="191044"/>
              <a:ext cx="4620248" cy="3208973"/>
            </a:xfrm>
            <a:custGeom>
              <a:avLst/>
              <a:gdLst/>
              <a:ahLst/>
              <a:cxnLst/>
              <a:rect r="r" b="b" t="t" l="l"/>
              <a:pathLst>
                <a:path h="3208973" w="4620248">
                  <a:moveTo>
                    <a:pt x="0" y="0"/>
                  </a:moveTo>
                  <a:lnTo>
                    <a:pt x="4620249" y="0"/>
                  </a:lnTo>
                  <a:lnTo>
                    <a:pt x="4620249" y="3208972"/>
                  </a:lnTo>
                  <a:lnTo>
                    <a:pt x="0" y="3208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9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76395">
              <a:off x="173836" y="50936"/>
              <a:ext cx="4620248" cy="3208973"/>
            </a:xfrm>
            <a:custGeom>
              <a:avLst/>
              <a:gdLst/>
              <a:ahLst/>
              <a:cxnLst/>
              <a:rect r="r" b="b" t="t" l="l"/>
              <a:pathLst>
                <a:path h="3208973" w="4620248">
                  <a:moveTo>
                    <a:pt x="0" y="0"/>
                  </a:moveTo>
                  <a:lnTo>
                    <a:pt x="4620248" y="0"/>
                  </a:lnTo>
                  <a:lnTo>
                    <a:pt x="4620248" y="3208973"/>
                  </a:lnTo>
                  <a:lnTo>
                    <a:pt x="0" y="3208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212141">
            <a:off x="12720482" y="-460383"/>
            <a:ext cx="5567210" cy="5023882"/>
            <a:chOff x="0" y="0"/>
            <a:chExt cx="7422947" cy="6698509"/>
          </a:xfrm>
        </p:grpSpPr>
        <p:sp>
          <p:nvSpPr>
            <p:cNvPr name="Freeform 6" id="6"/>
            <p:cNvSpPr/>
            <p:nvPr/>
          </p:nvSpPr>
          <p:spPr>
            <a:xfrm flipH="false" flipV="false" rot="-3761409">
              <a:off x="1607288" y="365734"/>
              <a:ext cx="4268602" cy="6082205"/>
            </a:xfrm>
            <a:custGeom>
              <a:avLst/>
              <a:gdLst/>
              <a:ahLst/>
              <a:cxnLst/>
              <a:rect r="r" b="b" t="t" l="l"/>
              <a:pathLst>
                <a:path h="6082205" w="4268602">
                  <a:moveTo>
                    <a:pt x="0" y="0"/>
                  </a:moveTo>
                  <a:lnTo>
                    <a:pt x="4268602" y="0"/>
                  </a:lnTo>
                  <a:lnTo>
                    <a:pt x="4268602" y="6082205"/>
                  </a:lnTo>
                  <a:lnTo>
                    <a:pt x="0" y="6082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2999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3761409">
              <a:off x="1547057" y="250570"/>
              <a:ext cx="4268602" cy="6082205"/>
            </a:xfrm>
            <a:custGeom>
              <a:avLst/>
              <a:gdLst/>
              <a:ahLst/>
              <a:cxnLst/>
              <a:rect r="r" b="b" t="t" l="l"/>
              <a:pathLst>
                <a:path h="6082205" w="4268602">
                  <a:moveTo>
                    <a:pt x="0" y="0"/>
                  </a:moveTo>
                  <a:lnTo>
                    <a:pt x="4268602" y="0"/>
                  </a:lnTo>
                  <a:lnTo>
                    <a:pt x="4268602" y="6082205"/>
                  </a:lnTo>
                  <a:lnTo>
                    <a:pt x="0" y="6082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904081" y="3498791"/>
            <a:ext cx="6120792" cy="6066757"/>
            <a:chOff x="0" y="0"/>
            <a:chExt cx="8161057" cy="8089009"/>
          </a:xfrm>
        </p:grpSpPr>
        <p:sp>
          <p:nvSpPr>
            <p:cNvPr name="Freeform 9" id="9"/>
            <p:cNvSpPr/>
            <p:nvPr/>
          </p:nvSpPr>
          <p:spPr>
            <a:xfrm flipH="false" flipV="false" rot="-1099088">
              <a:off x="838492" y="838492"/>
              <a:ext cx="6361386" cy="6361386"/>
            </a:xfrm>
            <a:custGeom>
              <a:avLst/>
              <a:gdLst/>
              <a:ahLst/>
              <a:cxnLst/>
              <a:rect r="r" b="b" t="t" l="l"/>
              <a:pathLst>
                <a:path h="6361386" w="6361386">
                  <a:moveTo>
                    <a:pt x="0" y="0"/>
                  </a:moveTo>
                  <a:lnTo>
                    <a:pt x="6361386" y="0"/>
                  </a:lnTo>
                  <a:lnTo>
                    <a:pt x="6361386" y="6361386"/>
                  </a:lnTo>
                  <a:lnTo>
                    <a:pt x="0" y="6361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1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1099088">
              <a:off x="961179" y="889131"/>
              <a:ext cx="6361386" cy="6361386"/>
            </a:xfrm>
            <a:custGeom>
              <a:avLst/>
              <a:gdLst/>
              <a:ahLst/>
              <a:cxnLst/>
              <a:rect r="r" b="b" t="t" l="l"/>
              <a:pathLst>
                <a:path h="6361386" w="6361386">
                  <a:moveTo>
                    <a:pt x="0" y="0"/>
                  </a:moveTo>
                  <a:lnTo>
                    <a:pt x="6361386" y="0"/>
                  </a:lnTo>
                  <a:lnTo>
                    <a:pt x="6361386" y="6361387"/>
                  </a:lnTo>
                  <a:lnTo>
                    <a:pt x="0" y="6361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293115" y="7845851"/>
            <a:ext cx="2949140" cy="1707203"/>
            <a:chOff x="0" y="0"/>
            <a:chExt cx="3932187" cy="2276270"/>
          </a:xfrm>
        </p:grpSpPr>
        <p:sp>
          <p:nvSpPr>
            <p:cNvPr name="Freeform 12" id="12"/>
            <p:cNvSpPr/>
            <p:nvPr/>
          </p:nvSpPr>
          <p:spPr>
            <a:xfrm flipH="true" flipV="false" rot="0">
              <a:off x="0" y="108616"/>
              <a:ext cx="3833472" cy="2167654"/>
            </a:xfrm>
            <a:custGeom>
              <a:avLst/>
              <a:gdLst/>
              <a:ahLst/>
              <a:cxnLst/>
              <a:rect r="r" b="b" t="t" l="l"/>
              <a:pathLst>
                <a:path h="2167654" w="3833472">
                  <a:moveTo>
                    <a:pt x="3833472" y="0"/>
                  </a:moveTo>
                  <a:lnTo>
                    <a:pt x="0" y="0"/>
                  </a:lnTo>
                  <a:lnTo>
                    <a:pt x="0" y="2167654"/>
                  </a:lnTo>
                  <a:lnTo>
                    <a:pt x="3833472" y="2167654"/>
                  </a:lnTo>
                  <a:lnTo>
                    <a:pt x="3833472" y="0"/>
                  </a:lnTo>
                  <a:close/>
                </a:path>
              </a:pathLst>
            </a:custGeom>
            <a:blipFill>
              <a:blip r:embed="rId14">
                <a:alphaModFix amt="32999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true" flipV="false" rot="0">
              <a:off x="98715" y="0"/>
              <a:ext cx="3833472" cy="2167654"/>
            </a:xfrm>
            <a:custGeom>
              <a:avLst/>
              <a:gdLst/>
              <a:ahLst/>
              <a:cxnLst/>
              <a:rect r="r" b="b" t="t" l="l"/>
              <a:pathLst>
                <a:path h="2167654" w="3833472">
                  <a:moveTo>
                    <a:pt x="3833472" y="0"/>
                  </a:moveTo>
                  <a:lnTo>
                    <a:pt x="0" y="0"/>
                  </a:lnTo>
                  <a:lnTo>
                    <a:pt x="0" y="2167654"/>
                  </a:lnTo>
                  <a:lnTo>
                    <a:pt x="3833472" y="2167654"/>
                  </a:lnTo>
                  <a:lnTo>
                    <a:pt x="3833472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-102807">
            <a:off x="14855073" y="4120439"/>
            <a:ext cx="3350720" cy="5548654"/>
            <a:chOff x="0" y="0"/>
            <a:chExt cx="4467627" cy="7398205"/>
          </a:xfrm>
        </p:grpSpPr>
        <p:sp>
          <p:nvSpPr>
            <p:cNvPr name="Freeform 15" id="15"/>
            <p:cNvSpPr/>
            <p:nvPr/>
          </p:nvSpPr>
          <p:spPr>
            <a:xfrm flipH="false" flipV="false" rot="-669603">
              <a:off x="637091" y="232887"/>
              <a:ext cx="3079033" cy="6884018"/>
            </a:xfrm>
            <a:custGeom>
              <a:avLst/>
              <a:gdLst/>
              <a:ahLst/>
              <a:cxnLst/>
              <a:rect r="r" b="b" t="t" l="l"/>
              <a:pathLst>
                <a:path h="6884018" w="3079033">
                  <a:moveTo>
                    <a:pt x="0" y="0"/>
                  </a:moveTo>
                  <a:lnTo>
                    <a:pt x="3079033" y="0"/>
                  </a:lnTo>
                  <a:lnTo>
                    <a:pt x="3079033" y="6884017"/>
                  </a:lnTo>
                  <a:lnTo>
                    <a:pt x="0" y="6884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35000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669603">
              <a:off x="751503" y="281301"/>
              <a:ext cx="3079033" cy="6884018"/>
            </a:xfrm>
            <a:custGeom>
              <a:avLst/>
              <a:gdLst/>
              <a:ahLst/>
              <a:cxnLst/>
              <a:rect r="r" b="b" t="t" l="l"/>
              <a:pathLst>
                <a:path h="6884018" w="3079033">
                  <a:moveTo>
                    <a:pt x="0" y="0"/>
                  </a:moveTo>
                  <a:lnTo>
                    <a:pt x="3079034" y="0"/>
                  </a:lnTo>
                  <a:lnTo>
                    <a:pt x="3079034" y="6884018"/>
                  </a:lnTo>
                  <a:lnTo>
                    <a:pt x="0" y="6884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783913" y="3794066"/>
            <a:ext cx="12720175" cy="162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15"/>
              </a:lnSpc>
            </a:pPr>
            <a:r>
              <a:rPr lang="en-US" b="true" sz="11896" spc="535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FARMATO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381865" y="1397206"/>
            <a:ext cx="412691" cy="412691"/>
          </a:xfrm>
          <a:custGeom>
            <a:avLst/>
            <a:gdLst/>
            <a:ahLst/>
            <a:cxnLst/>
            <a:rect r="r" b="b" t="t" l="l"/>
            <a:pathLst>
              <a:path h="412691" w="412691">
                <a:moveTo>
                  <a:pt x="0" y="0"/>
                </a:moveTo>
                <a:lnTo>
                  <a:pt x="412691" y="0"/>
                </a:lnTo>
                <a:lnTo>
                  <a:pt x="412691" y="412691"/>
                </a:lnTo>
                <a:lnTo>
                  <a:pt x="0" y="41269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971688" y="1447293"/>
            <a:ext cx="4599180" cy="31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2057" b="true">
                <a:solidFill>
                  <a:srgbClr val="000012"/>
                </a:solidFill>
                <a:latin typeface="Arimo Bold"/>
                <a:ea typeface="Arimo Bold"/>
                <a:cs typeface="Arimo Bold"/>
                <a:sym typeface="Arimo Bold"/>
              </a:rPr>
              <a:t>PROYECTO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80771" y="7173584"/>
            <a:ext cx="4663229" cy="1999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6"/>
              </a:lnSpc>
            </a:pPr>
            <a:r>
              <a:rPr lang="en-US" sz="2166" b="true">
                <a:solidFill>
                  <a:srgbClr val="000012"/>
                </a:solidFill>
                <a:latin typeface="Arimo Bold"/>
                <a:ea typeface="Arimo Bold"/>
                <a:cs typeface="Arimo Bold"/>
                <a:sym typeface="Arimo Bold"/>
              </a:rPr>
              <a:t>Integrantes: </a:t>
            </a:r>
          </a:p>
          <a:p>
            <a:pPr algn="l">
              <a:lnSpc>
                <a:spcPts val="3206"/>
              </a:lnSpc>
            </a:pPr>
            <a:r>
              <a:rPr lang="en-US" sz="2166">
                <a:solidFill>
                  <a:srgbClr val="000012"/>
                </a:solidFill>
                <a:latin typeface="Arimo"/>
                <a:ea typeface="Arimo"/>
                <a:cs typeface="Arimo"/>
                <a:sym typeface="Arimo"/>
              </a:rPr>
              <a:t>José Rojas</a:t>
            </a:r>
          </a:p>
          <a:p>
            <a:pPr algn="l">
              <a:lnSpc>
                <a:spcPts val="3206"/>
              </a:lnSpc>
            </a:pPr>
            <a:r>
              <a:rPr lang="en-US" sz="2166">
                <a:solidFill>
                  <a:srgbClr val="000012"/>
                </a:solidFill>
                <a:latin typeface="Arimo"/>
                <a:ea typeface="Arimo"/>
                <a:cs typeface="Arimo"/>
                <a:sym typeface="Arimo"/>
              </a:rPr>
              <a:t>Martin López</a:t>
            </a:r>
          </a:p>
          <a:p>
            <a:pPr algn="l">
              <a:lnSpc>
                <a:spcPts val="3206"/>
              </a:lnSpc>
            </a:pPr>
            <a:r>
              <a:rPr lang="en-US" sz="2166">
                <a:solidFill>
                  <a:srgbClr val="000012"/>
                </a:solidFill>
                <a:latin typeface="Arimo"/>
                <a:ea typeface="Arimo"/>
                <a:cs typeface="Arimo"/>
                <a:sym typeface="Arimo"/>
              </a:rPr>
              <a:t>Pablo Loaiza</a:t>
            </a:r>
          </a:p>
          <a:p>
            <a:pPr algn="l">
              <a:lnSpc>
                <a:spcPts val="3206"/>
              </a:lnSpc>
            </a:pPr>
            <a:r>
              <a:rPr lang="en-US" sz="2166">
                <a:solidFill>
                  <a:srgbClr val="000012"/>
                </a:solidFill>
                <a:latin typeface="Arimo"/>
                <a:ea typeface="Arimo"/>
                <a:cs typeface="Arimo"/>
                <a:sym typeface="Arimo"/>
              </a:rPr>
              <a:t>Marcelo Saavedra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80771" y="9489347"/>
            <a:ext cx="4663229" cy="39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6"/>
              </a:lnSpc>
            </a:pPr>
            <a:r>
              <a:rPr lang="en-US" sz="2166" b="true">
                <a:solidFill>
                  <a:srgbClr val="000012"/>
                </a:solidFill>
                <a:latin typeface="Arimo Bold"/>
                <a:ea typeface="Arimo Bold"/>
                <a:cs typeface="Arimo Bold"/>
                <a:sym typeface="Arimo Bold"/>
              </a:rPr>
              <a:t>Sección: </a:t>
            </a:r>
            <a:r>
              <a:rPr lang="en-US" sz="2166">
                <a:solidFill>
                  <a:srgbClr val="000012"/>
                </a:solidFill>
                <a:latin typeface="Arimo"/>
                <a:ea typeface="Arimo"/>
                <a:cs typeface="Arimo"/>
                <a:sym typeface="Arimo"/>
              </a:rPr>
              <a:t>004-D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9228" y="4183777"/>
            <a:ext cx="19971082" cy="4821922"/>
            <a:chOff x="0" y="0"/>
            <a:chExt cx="5259873" cy="12699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59874" cy="1269971"/>
            </a:xfrm>
            <a:custGeom>
              <a:avLst/>
              <a:gdLst/>
              <a:ahLst/>
              <a:cxnLst/>
              <a:rect r="r" b="b" t="t" l="l"/>
              <a:pathLst>
                <a:path h="1269971" w="5259874">
                  <a:moveTo>
                    <a:pt x="0" y="0"/>
                  </a:moveTo>
                  <a:lnTo>
                    <a:pt x="5259874" y="0"/>
                  </a:lnTo>
                  <a:lnTo>
                    <a:pt x="5259874" y="1269971"/>
                  </a:lnTo>
                  <a:lnTo>
                    <a:pt x="0" y="1269971"/>
                  </a:lnTo>
                  <a:close/>
                </a:path>
              </a:pathLst>
            </a:custGeom>
            <a:solidFill>
              <a:srgbClr val="3D989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259873" cy="1327121"/>
            </a:xfrm>
            <a:prstGeom prst="rect">
              <a:avLst/>
            </a:prstGeom>
          </p:spPr>
          <p:txBody>
            <a:bodyPr anchor="ctr" rtlCol="false" tIns="241300" lIns="241300" bIns="241300" rIns="241300"/>
            <a:lstStyle/>
            <a:p>
              <a:pPr algn="just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931698" y="2120281"/>
            <a:ext cx="12424604" cy="183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8"/>
              </a:lnSpc>
            </a:pPr>
            <a:r>
              <a:rPr lang="en-US" b="true" sz="10563">
                <a:solidFill>
                  <a:srgbClr val="000012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CONTENIDOS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12197" y="958783"/>
            <a:ext cx="11263606" cy="1371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55"/>
              </a:lnSpc>
            </a:pPr>
            <a:r>
              <a:rPr lang="en-US" b="true" sz="7896">
                <a:solidFill>
                  <a:srgbClr val="000012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ÍNDICE DE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549730" y="-2561775"/>
            <a:ext cx="5419140" cy="5123550"/>
          </a:xfrm>
          <a:custGeom>
            <a:avLst/>
            <a:gdLst/>
            <a:ahLst/>
            <a:cxnLst/>
            <a:rect r="r" b="b" t="t" l="l"/>
            <a:pathLst>
              <a:path h="5123550" w="5419140">
                <a:moveTo>
                  <a:pt x="0" y="0"/>
                </a:moveTo>
                <a:lnTo>
                  <a:pt x="5419140" y="0"/>
                </a:lnTo>
                <a:lnTo>
                  <a:pt x="5419140" y="5123550"/>
                </a:lnTo>
                <a:lnTo>
                  <a:pt x="0" y="5123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8392" y="2518545"/>
            <a:ext cx="8967921" cy="8071129"/>
          </a:xfrm>
          <a:custGeom>
            <a:avLst/>
            <a:gdLst/>
            <a:ahLst/>
            <a:cxnLst/>
            <a:rect r="r" b="b" t="t" l="l"/>
            <a:pathLst>
              <a:path h="8071129" w="8967921">
                <a:moveTo>
                  <a:pt x="0" y="0"/>
                </a:moveTo>
                <a:lnTo>
                  <a:pt x="8967920" y="0"/>
                </a:lnTo>
                <a:lnTo>
                  <a:pt x="8967920" y="8071129"/>
                </a:lnTo>
                <a:lnTo>
                  <a:pt x="0" y="80711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852180" y="4864901"/>
            <a:ext cx="5968906" cy="385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01. Objetivo general.</a:t>
            </a:r>
          </a:p>
          <a:p>
            <a:pPr algn="l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02. Justificación.</a:t>
            </a:r>
          </a:p>
          <a:p>
            <a:pPr algn="l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03. Tecnologías utilizadas.</a:t>
            </a:r>
          </a:p>
          <a:p>
            <a:pPr algn="l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04. Diagrama de base de datos.</a:t>
            </a:r>
          </a:p>
          <a:p>
            <a:pPr algn="l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05. Funcionamiento general.</a:t>
            </a:r>
          </a:p>
          <a:p>
            <a:pPr algn="l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06. Características principales.</a:t>
            </a:r>
          </a:p>
          <a:p>
            <a:pPr algn="l">
              <a:lnSpc>
                <a:spcPts val="4396"/>
              </a:lnSpc>
              <a:spcBef>
                <a:spcPct val="0"/>
              </a:spcBef>
            </a:pPr>
            <a:r>
              <a:rPr lang="en-US" b="true" sz="314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07. Conclusión.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98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92594" y="1826522"/>
            <a:ext cx="15000986" cy="2513047"/>
            <a:chOff x="0" y="0"/>
            <a:chExt cx="728610" cy="1220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8610" cy="122061"/>
            </a:xfrm>
            <a:custGeom>
              <a:avLst/>
              <a:gdLst/>
              <a:ahLst/>
              <a:cxnLst/>
              <a:rect r="r" b="b" t="t" l="l"/>
              <a:pathLst>
                <a:path h="122061" w="728610">
                  <a:moveTo>
                    <a:pt x="0" y="0"/>
                  </a:moveTo>
                  <a:lnTo>
                    <a:pt x="728610" y="0"/>
                  </a:lnTo>
                  <a:lnTo>
                    <a:pt x="728610" y="122061"/>
                  </a:lnTo>
                  <a:lnTo>
                    <a:pt x="0" y="122061"/>
                  </a:lnTo>
                  <a:close/>
                </a:path>
              </a:pathLst>
            </a:custGeom>
            <a:solidFill>
              <a:srgbClr val="D5EB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728610" cy="131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05485" y="2665108"/>
            <a:ext cx="9036840" cy="1019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1"/>
              </a:lnSpc>
            </a:pPr>
            <a:r>
              <a:rPr lang="en-US" sz="5850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OBJETIVO GENERAL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165100" y="896213"/>
            <a:ext cx="6032178" cy="8190965"/>
            <a:chOff x="0" y="0"/>
            <a:chExt cx="1699005" cy="23070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99004" cy="2307042"/>
            </a:xfrm>
            <a:custGeom>
              <a:avLst/>
              <a:gdLst/>
              <a:ahLst/>
              <a:cxnLst/>
              <a:rect r="r" b="b" t="t" l="l"/>
              <a:pathLst>
                <a:path h="2307042" w="1699004">
                  <a:moveTo>
                    <a:pt x="5134" y="0"/>
                  </a:moveTo>
                  <a:lnTo>
                    <a:pt x="1693871" y="0"/>
                  </a:lnTo>
                  <a:cubicBezTo>
                    <a:pt x="1696706" y="0"/>
                    <a:pt x="1699004" y="2298"/>
                    <a:pt x="1699004" y="5134"/>
                  </a:cubicBezTo>
                  <a:lnTo>
                    <a:pt x="1699004" y="2301908"/>
                  </a:lnTo>
                  <a:cubicBezTo>
                    <a:pt x="1699004" y="2304743"/>
                    <a:pt x="1696706" y="2307042"/>
                    <a:pt x="1693871" y="2307042"/>
                  </a:cubicBezTo>
                  <a:lnTo>
                    <a:pt x="5134" y="2307042"/>
                  </a:lnTo>
                  <a:cubicBezTo>
                    <a:pt x="2298" y="2307042"/>
                    <a:pt x="0" y="2304743"/>
                    <a:pt x="0" y="2301908"/>
                  </a:cubicBezTo>
                  <a:lnTo>
                    <a:pt x="0" y="5134"/>
                  </a:lnTo>
                  <a:cubicBezTo>
                    <a:pt x="0" y="2298"/>
                    <a:pt x="2298" y="0"/>
                    <a:pt x="51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00001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99005" cy="2345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10260" y="5076825"/>
            <a:ext cx="7633740" cy="2564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Desarrollar una página web que permita a los usuarios comparar los precios de medicamentos disponibles en diversas farmacias, facilitando la búsqueda de opciones más económicas y accesibles.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08392" y="1143988"/>
            <a:ext cx="6075404" cy="8246800"/>
            <a:chOff x="0" y="0"/>
            <a:chExt cx="1006576" cy="13663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6576" cy="1366334"/>
            </a:xfrm>
            <a:custGeom>
              <a:avLst/>
              <a:gdLst/>
              <a:ahLst/>
              <a:cxnLst/>
              <a:rect r="r" b="b" t="t" l="l"/>
              <a:pathLst>
                <a:path h="1366334" w="1006576">
                  <a:moveTo>
                    <a:pt x="0" y="0"/>
                  </a:moveTo>
                  <a:lnTo>
                    <a:pt x="1006576" y="0"/>
                  </a:lnTo>
                  <a:lnTo>
                    <a:pt x="1006576" y="1366334"/>
                  </a:lnTo>
                  <a:lnTo>
                    <a:pt x="0" y="1366334"/>
                  </a:lnTo>
                  <a:close/>
                </a:path>
              </a:pathLst>
            </a:custGeom>
            <a:blipFill>
              <a:blip r:embed="rId2"/>
              <a:stretch>
                <a:fillRect l="-51805" t="0" r="-51805" b="0"/>
              </a:stretch>
            </a:blipFill>
            <a:ln w="76200" cap="sq">
              <a:solidFill>
                <a:srgbClr val="D5EBED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5900" y="498751"/>
            <a:ext cx="17248671" cy="9289498"/>
            <a:chOff x="0" y="0"/>
            <a:chExt cx="4542860" cy="24466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2860" cy="2446617"/>
            </a:xfrm>
            <a:custGeom>
              <a:avLst/>
              <a:gdLst/>
              <a:ahLst/>
              <a:cxnLst/>
              <a:rect r="r" b="b" t="t" l="l"/>
              <a:pathLst>
                <a:path h="2446617" w="4542860">
                  <a:moveTo>
                    <a:pt x="1795" y="0"/>
                  </a:moveTo>
                  <a:lnTo>
                    <a:pt x="4541065" y="0"/>
                  </a:lnTo>
                  <a:cubicBezTo>
                    <a:pt x="4542056" y="0"/>
                    <a:pt x="4542860" y="804"/>
                    <a:pt x="4542860" y="1795"/>
                  </a:cubicBezTo>
                  <a:lnTo>
                    <a:pt x="4542860" y="2444821"/>
                  </a:lnTo>
                  <a:cubicBezTo>
                    <a:pt x="4542860" y="2445298"/>
                    <a:pt x="4542671" y="2445754"/>
                    <a:pt x="4542334" y="2446091"/>
                  </a:cubicBezTo>
                  <a:cubicBezTo>
                    <a:pt x="4541998" y="2446428"/>
                    <a:pt x="4541541" y="2446617"/>
                    <a:pt x="4541065" y="2446617"/>
                  </a:cubicBezTo>
                  <a:lnTo>
                    <a:pt x="1795" y="2446617"/>
                  </a:lnTo>
                  <a:cubicBezTo>
                    <a:pt x="804" y="2446617"/>
                    <a:pt x="0" y="2445813"/>
                    <a:pt x="0" y="2444821"/>
                  </a:cubicBezTo>
                  <a:lnTo>
                    <a:pt x="0" y="1795"/>
                  </a:lnTo>
                  <a:cubicBezTo>
                    <a:pt x="0" y="804"/>
                    <a:pt x="804" y="0"/>
                    <a:pt x="17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D5EBE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2860" cy="2484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88297" y="-267837"/>
            <a:ext cx="8184262" cy="10899280"/>
            <a:chOff x="0" y="0"/>
            <a:chExt cx="1267956" cy="1688584"/>
          </a:xfrm>
        </p:grpSpPr>
        <p:sp>
          <p:nvSpPr>
            <p:cNvPr name="Freeform 6" id="6"/>
            <p:cNvSpPr/>
            <p:nvPr/>
          </p:nvSpPr>
          <p:spPr>
            <a:xfrm flipH="false" flipV="false" rot="-69221">
              <a:off x="-16871" y="-12594"/>
              <a:ext cx="1301698" cy="1713771"/>
            </a:xfrm>
            <a:custGeom>
              <a:avLst/>
              <a:gdLst/>
              <a:ahLst/>
              <a:cxnLst/>
              <a:rect r="r" b="b" t="t" l="l"/>
              <a:pathLst>
                <a:path h="1713771" w="1301698">
                  <a:moveTo>
                    <a:pt x="33999" y="0"/>
                  </a:moveTo>
                  <a:lnTo>
                    <a:pt x="1301698" y="25530"/>
                  </a:lnTo>
                  <a:lnTo>
                    <a:pt x="1267700" y="1713771"/>
                  </a:lnTo>
                  <a:lnTo>
                    <a:pt x="0" y="1688242"/>
                  </a:lnTo>
                  <a:close/>
                </a:path>
              </a:pathLst>
            </a:custGeom>
            <a:blipFill>
              <a:blip r:embed="rId2"/>
              <a:stretch>
                <a:fillRect l="-125327" t="0" r="-24445" b="-671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543686" y="1210478"/>
            <a:ext cx="13815635" cy="2927291"/>
            <a:chOff x="0" y="0"/>
            <a:chExt cx="812800" cy="17221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72218"/>
            </a:xfrm>
            <a:custGeom>
              <a:avLst/>
              <a:gdLst/>
              <a:ahLst/>
              <a:cxnLst/>
              <a:rect r="r" b="b" t="t" l="l"/>
              <a:pathLst>
                <a:path h="1722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2218"/>
                  </a:lnTo>
                  <a:lnTo>
                    <a:pt x="0" y="172218"/>
                  </a:lnTo>
                  <a:close/>
                </a:path>
              </a:pathLst>
            </a:custGeom>
            <a:solidFill>
              <a:srgbClr val="3D989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12800" cy="181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641467" y="4441769"/>
            <a:ext cx="8665458" cy="514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00"/>
              </a:lnSpc>
            </a:pPr>
            <a:r>
              <a:rPr lang="en-US" sz="3000">
                <a:solidFill>
                  <a:srgbClr val="000012"/>
                </a:solidFill>
                <a:latin typeface="Cocomat Pro"/>
                <a:ea typeface="Cocomat Pro"/>
                <a:cs typeface="Cocomat Pro"/>
                <a:sym typeface="Cocomat Pro"/>
              </a:rPr>
              <a:t>El costo de los medicamentos puede variar significativamente entre farmacias.</a:t>
            </a:r>
          </a:p>
          <a:p>
            <a:pPr algn="just">
              <a:lnSpc>
                <a:spcPts val="5100"/>
              </a:lnSpc>
            </a:pPr>
            <a:r>
              <a:rPr lang="en-US" sz="3000">
                <a:solidFill>
                  <a:srgbClr val="000012"/>
                </a:solidFill>
                <a:latin typeface="Cocomat Pro"/>
                <a:ea typeface="Cocomat Pro"/>
                <a:cs typeface="Cocomat Pro"/>
                <a:sym typeface="Cocomat Pro"/>
              </a:rPr>
              <a:t>Farmato busca:</a:t>
            </a:r>
          </a:p>
          <a:p>
            <a:pPr algn="just" marL="647708" indent="-323854" lvl="1">
              <a:lnSpc>
                <a:spcPts val="5100"/>
              </a:lnSpc>
              <a:buFont typeface="Arial"/>
              <a:buChar char="•"/>
            </a:pPr>
            <a:r>
              <a:rPr lang="en-US" sz="3000">
                <a:solidFill>
                  <a:srgbClr val="000012"/>
                </a:solidFill>
                <a:latin typeface="Cocomat Pro"/>
                <a:ea typeface="Cocomat Pro"/>
                <a:cs typeface="Cocomat Pro"/>
                <a:sym typeface="Cocomat Pro"/>
              </a:rPr>
              <a:t>Promover la transparencia de precios.</a:t>
            </a:r>
          </a:p>
          <a:p>
            <a:pPr algn="just" marL="647708" indent="-323854" lvl="1">
              <a:lnSpc>
                <a:spcPts val="5100"/>
              </a:lnSpc>
              <a:buFont typeface="Arial"/>
              <a:buChar char="•"/>
            </a:pPr>
            <a:r>
              <a:rPr lang="en-US" sz="3000">
                <a:solidFill>
                  <a:srgbClr val="000012"/>
                </a:solidFill>
                <a:latin typeface="Cocomat Pro"/>
                <a:ea typeface="Cocomat Pro"/>
                <a:cs typeface="Cocomat Pro"/>
                <a:sym typeface="Cocomat Pro"/>
              </a:rPr>
              <a:t>Ayudar a los usuarios a ahorrar dinero.</a:t>
            </a:r>
          </a:p>
          <a:p>
            <a:pPr algn="just" marL="647708" indent="-323854" lvl="1">
              <a:lnSpc>
                <a:spcPts val="5100"/>
              </a:lnSpc>
              <a:buFont typeface="Arial"/>
              <a:buChar char="•"/>
            </a:pPr>
            <a:r>
              <a:rPr lang="en-US" sz="3000">
                <a:solidFill>
                  <a:srgbClr val="000012"/>
                </a:solidFill>
                <a:latin typeface="Cocomat Pro"/>
                <a:ea typeface="Cocomat Pro"/>
                <a:cs typeface="Cocomat Pro"/>
                <a:sym typeface="Cocomat Pro"/>
              </a:rPr>
              <a:t>Facilitar la búsqueda de medicamentos de forma rápida y confiable.</a:t>
            </a:r>
          </a:p>
          <a:p>
            <a:pPr algn="just">
              <a:lnSpc>
                <a:spcPts val="51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879951" y="2228967"/>
            <a:ext cx="9143104" cy="976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40"/>
              </a:lnSpc>
            </a:pPr>
            <a:r>
              <a:rPr lang="en-US" b="true" sz="6961">
                <a:solidFill>
                  <a:srgbClr val="F7FFFD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JUSTIFICACIÓN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B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5864" y="566027"/>
            <a:ext cx="17248671" cy="9289498"/>
            <a:chOff x="0" y="0"/>
            <a:chExt cx="4542860" cy="24466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2860" cy="2446617"/>
            </a:xfrm>
            <a:custGeom>
              <a:avLst/>
              <a:gdLst/>
              <a:ahLst/>
              <a:cxnLst/>
              <a:rect r="r" b="b" t="t" l="l"/>
              <a:pathLst>
                <a:path h="2446617" w="4542860">
                  <a:moveTo>
                    <a:pt x="1795" y="0"/>
                  </a:moveTo>
                  <a:lnTo>
                    <a:pt x="4541065" y="0"/>
                  </a:lnTo>
                  <a:cubicBezTo>
                    <a:pt x="4542056" y="0"/>
                    <a:pt x="4542860" y="804"/>
                    <a:pt x="4542860" y="1795"/>
                  </a:cubicBezTo>
                  <a:lnTo>
                    <a:pt x="4542860" y="2444821"/>
                  </a:lnTo>
                  <a:cubicBezTo>
                    <a:pt x="4542860" y="2445298"/>
                    <a:pt x="4542671" y="2445754"/>
                    <a:pt x="4542334" y="2446091"/>
                  </a:cubicBezTo>
                  <a:cubicBezTo>
                    <a:pt x="4541998" y="2446428"/>
                    <a:pt x="4541541" y="2446617"/>
                    <a:pt x="4541065" y="2446617"/>
                  </a:cubicBezTo>
                  <a:lnTo>
                    <a:pt x="1795" y="2446617"/>
                  </a:lnTo>
                  <a:cubicBezTo>
                    <a:pt x="804" y="2446617"/>
                    <a:pt x="0" y="2445813"/>
                    <a:pt x="0" y="2444821"/>
                  </a:cubicBezTo>
                  <a:lnTo>
                    <a:pt x="0" y="1795"/>
                  </a:lnTo>
                  <a:cubicBezTo>
                    <a:pt x="0" y="804"/>
                    <a:pt x="804" y="0"/>
                    <a:pt x="17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00001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2860" cy="2503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3230" y="4135461"/>
            <a:ext cx="3466656" cy="1969641"/>
            <a:chOff x="0" y="0"/>
            <a:chExt cx="168378" cy="956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8378" cy="95667"/>
            </a:xfrm>
            <a:custGeom>
              <a:avLst/>
              <a:gdLst/>
              <a:ahLst/>
              <a:cxnLst/>
              <a:rect r="r" b="b" t="t" l="l"/>
              <a:pathLst>
                <a:path h="95667" w="168378">
                  <a:moveTo>
                    <a:pt x="0" y="0"/>
                  </a:moveTo>
                  <a:lnTo>
                    <a:pt x="168378" y="0"/>
                  </a:lnTo>
                  <a:lnTo>
                    <a:pt x="168378" y="95667"/>
                  </a:lnTo>
                  <a:lnTo>
                    <a:pt x="0" y="95667"/>
                  </a:lnTo>
                  <a:close/>
                </a:path>
              </a:pathLst>
            </a:custGeom>
            <a:solidFill>
              <a:srgbClr val="3D989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8378" cy="105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3230" y="6786202"/>
            <a:ext cx="3466656" cy="2270377"/>
            <a:chOff x="0" y="0"/>
            <a:chExt cx="168378" cy="110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8378" cy="110274"/>
            </a:xfrm>
            <a:custGeom>
              <a:avLst/>
              <a:gdLst/>
              <a:ahLst/>
              <a:cxnLst/>
              <a:rect r="r" b="b" t="t" l="l"/>
              <a:pathLst>
                <a:path h="110274" w="168378">
                  <a:moveTo>
                    <a:pt x="0" y="0"/>
                  </a:moveTo>
                  <a:lnTo>
                    <a:pt x="168378" y="0"/>
                  </a:lnTo>
                  <a:lnTo>
                    <a:pt x="168378" y="110274"/>
                  </a:lnTo>
                  <a:lnTo>
                    <a:pt x="0" y="110274"/>
                  </a:lnTo>
                  <a:close/>
                </a:path>
              </a:pathLst>
            </a:custGeom>
            <a:solidFill>
              <a:srgbClr val="3D989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68378" cy="119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98957" y="4135461"/>
            <a:ext cx="4141481" cy="1988727"/>
            <a:chOff x="0" y="0"/>
            <a:chExt cx="201155" cy="965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1155" cy="96594"/>
            </a:xfrm>
            <a:custGeom>
              <a:avLst/>
              <a:gdLst/>
              <a:ahLst/>
              <a:cxnLst/>
              <a:rect r="r" b="b" t="t" l="l"/>
              <a:pathLst>
                <a:path h="96594" w="201155">
                  <a:moveTo>
                    <a:pt x="0" y="0"/>
                  </a:moveTo>
                  <a:lnTo>
                    <a:pt x="201155" y="0"/>
                  </a:lnTo>
                  <a:lnTo>
                    <a:pt x="201155" y="96594"/>
                  </a:lnTo>
                  <a:lnTo>
                    <a:pt x="0" y="96594"/>
                  </a:lnTo>
                  <a:close/>
                </a:path>
              </a:pathLst>
            </a:custGeom>
            <a:solidFill>
              <a:srgbClr val="3D989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01155" cy="106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498957" y="6830564"/>
            <a:ext cx="4141481" cy="2226015"/>
            <a:chOff x="0" y="0"/>
            <a:chExt cx="201155" cy="1081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1155" cy="108119"/>
            </a:xfrm>
            <a:custGeom>
              <a:avLst/>
              <a:gdLst/>
              <a:ahLst/>
              <a:cxnLst/>
              <a:rect r="r" b="b" t="t" l="l"/>
              <a:pathLst>
                <a:path h="108119" w="201155">
                  <a:moveTo>
                    <a:pt x="0" y="0"/>
                  </a:moveTo>
                  <a:lnTo>
                    <a:pt x="201155" y="0"/>
                  </a:lnTo>
                  <a:lnTo>
                    <a:pt x="201155" y="108119"/>
                  </a:lnTo>
                  <a:lnTo>
                    <a:pt x="0" y="108119"/>
                  </a:lnTo>
                  <a:close/>
                </a:path>
              </a:pathLst>
            </a:custGeom>
            <a:solidFill>
              <a:srgbClr val="3D989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01155" cy="117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3230" y="1432243"/>
            <a:ext cx="15710759" cy="2012550"/>
            <a:chOff x="0" y="0"/>
            <a:chExt cx="3172519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72520" cy="406400"/>
            </a:xfrm>
            <a:custGeom>
              <a:avLst/>
              <a:gdLst/>
              <a:ahLst/>
              <a:cxnLst/>
              <a:rect r="r" b="b" t="t" l="l"/>
              <a:pathLst>
                <a:path h="406400" w="3172520">
                  <a:moveTo>
                    <a:pt x="2969320" y="0"/>
                  </a:moveTo>
                  <a:cubicBezTo>
                    <a:pt x="3081544" y="0"/>
                    <a:pt x="3172520" y="90976"/>
                    <a:pt x="3172520" y="203200"/>
                  </a:cubicBezTo>
                  <a:cubicBezTo>
                    <a:pt x="3172520" y="315424"/>
                    <a:pt x="3081544" y="406400"/>
                    <a:pt x="29693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5EBE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317251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4192594" y="796273"/>
            <a:ext cx="23737071" cy="1843762"/>
            <a:chOff x="0" y="0"/>
            <a:chExt cx="1152928" cy="895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52928" cy="89553"/>
            </a:xfrm>
            <a:custGeom>
              <a:avLst/>
              <a:gdLst/>
              <a:ahLst/>
              <a:cxnLst/>
              <a:rect r="r" b="b" t="t" l="l"/>
              <a:pathLst>
                <a:path h="89553" w="1152928">
                  <a:moveTo>
                    <a:pt x="0" y="0"/>
                  </a:moveTo>
                  <a:lnTo>
                    <a:pt x="1152928" y="0"/>
                  </a:lnTo>
                  <a:lnTo>
                    <a:pt x="1152928" y="89553"/>
                  </a:lnTo>
                  <a:lnTo>
                    <a:pt x="0" y="89553"/>
                  </a:lnTo>
                  <a:close/>
                </a:path>
              </a:pathLst>
            </a:custGeom>
            <a:solidFill>
              <a:srgbClr val="3D989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152928" cy="99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657183" y="4746543"/>
            <a:ext cx="2618751" cy="928466"/>
          </a:xfrm>
          <a:custGeom>
            <a:avLst/>
            <a:gdLst/>
            <a:ahLst/>
            <a:cxnLst/>
            <a:rect r="r" b="b" t="t" l="l"/>
            <a:pathLst>
              <a:path h="928466" w="2618751">
                <a:moveTo>
                  <a:pt x="0" y="0"/>
                </a:moveTo>
                <a:lnTo>
                  <a:pt x="2618750" y="0"/>
                </a:lnTo>
                <a:lnTo>
                  <a:pt x="2618750" y="928466"/>
                </a:lnTo>
                <a:lnTo>
                  <a:pt x="0" y="928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29867" y="7689490"/>
            <a:ext cx="3073381" cy="463801"/>
          </a:xfrm>
          <a:custGeom>
            <a:avLst/>
            <a:gdLst/>
            <a:ahLst/>
            <a:cxnLst/>
            <a:rect r="r" b="b" t="t" l="l"/>
            <a:pathLst>
              <a:path h="463801" w="3073381">
                <a:moveTo>
                  <a:pt x="0" y="0"/>
                </a:moveTo>
                <a:lnTo>
                  <a:pt x="3073382" y="0"/>
                </a:lnTo>
                <a:lnTo>
                  <a:pt x="3073382" y="463801"/>
                </a:lnTo>
                <a:lnTo>
                  <a:pt x="0" y="463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137865" y="4407430"/>
            <a:ext cx="1057040" cy="1491415"/>
          </a:xfrm>
          <a:custGeom>
            <a:avLst/>
            <a:gdLst/>
            <a:ahLst/>
            <a:cxnLst/>
            <a:rect r="r" b="b" t="t" l="l"/>
            <a:pathLst>
              <a:path h="1491415" w="1057040">
                <a:moveTo>
                  <a:pt x="0" y="0"/>
                </a:moveTo>
                <a:lnTo>
                  <a:pt x="1057041" y="0"/>
                </a:lnTo>
                <a:lnTo>
                  <a:pt x="1057041" y="1491415"/>
                </a:lnTo>
                <a:lnTo>
                  <a:pt x="0" y="14914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815594" y="4416955"/>
            <a:ext cx="1030372" cy="1453089"/>
          </a:xfrm>
          <a:custGeom>
            <a:avLst/>
            <a:gdLst/>
            <a:ahLst/>
            <a:cxnLst/>
            <a:rect r="r" b="b" t="t" l="l"/>
            <a:pathLst>
              <a:path h="1453089" w="1030372">
                <a:moveTo>
                  <a:pt x="0" y="0"/>
                </a:moveTo>
                <a:lnTo>
                  <a:pt x="1030372" y="0"/>
                </a:lnTo>
                <a:lnTo>
                  <a:pt x="1030372" y="1453090"/>
                </a:lnTo>
                <a:lnTo>
                  <a:pt x="0" y="14530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486805" y="4644057"/>
            <a:ext cx="962215" cy="1202769"/>
          </a:xfrm>
          <a:custGeom>
            <a:avLst/>
            <a:gdLst/>
            <a:ahLst/>
            <a:cxnLst/>
            <a:rect r="r" b="b" t="t" l="l"/>
            <a:pathLst>
              <a:path h="1202769" w="962215">
                <a:moveTo>
                  <a:pt x="0" y="0"/>
                </a:moveTo>
                <a:lnTo>
                  <a:pt x="962215" y="0"/>
                </a:lnTo>
                <a:lnTo>
                  <a:pt x="962215" y="1202769"/>
                </a:lnTo>
                <a:lnTo>
                  <a:pt x="0" y="12027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073848" y="7015891"/>
            <a:ext cx="2991699" cy="1767050"/>
          </a:xfrm>
          <a:custGeom>
            <a:avLst/>
            <a:gdLst/>
            <a:ahLst/>
            <a:cxnLst/>
            <a:rect r="r" b="b" t="t" l="l"/>
            <a:pathLst>
              <a:path h="1767050" w="2991699">
                <a:moveTo>
                  <a:pt x="0" y="0"/>
                </a:moveTo>
                <a:lnTo>
                  <a:pt x="2991699" y="0"/>
                </a:lnTo>
                <a:lnTo>
                  <a:pt x="2991699" y="1767050"/>
                </a:lnTo>
                <a:lnTo>
                  <a:pt x="0" y="17670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32474" r="0" b="-3683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5498339" y="7376258"/>
            <a:ext cx="2957162" cy="52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9"/>
              </a:lnSpc>
              <a:spcBef>
                <a:spcPct val="0"/>
              </a:spcBef>
            </a:pPr>
            <a:r>
              <a:rPr lang="en-US" sz="3028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Base de datos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95864" y="1046919"/>
            <a:ext cx="16739636" cy="120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30"/>
              </a:lnSpc>
            </a:pPr>
            <a:r>
              <a:rPr lang="en-US" b="true" sz="7021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TECNOLOGIAS UTILIZADAS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98339" y="4969575"/>
            <a:ext cx="2517155" cy="52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9"/>
              </a:lnSpc>
              <a:spcBef>
                <a:spcPct val="0"/>
              </a:spcBef>
            </a:pPr>
            <a:r>
              <a:rPr lang="en-US" sz="3028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Backed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135738" y="7331896"/>
            <a:ext cx="4522534" cy="52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9"/>
              </a:lnSpc>
              <a:spcBef>
                <a:spcPct val="0"/>
              </a:spcBef>
            </a:pPr>
            <a:r>
              <a:rPr lang="en-US" sz="3028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Automatización de datos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089858" y="4969575"/>
            <a:ext cx="2854132" cy="52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9"/>
              </a:lnSpc>
              <a:spcBef>
                <a:spcPct val="0"/>
              </a:spcBef>
            </a:pPr>
            <a:r>
              <a:rPr lang="en-US" sz="3028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Frontend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3997" y="990600"/>
            <a:ext cx="17860006" cy="8907678"/>
          </a:xfrm>
          <a:custGeom>
            <a:avLst/>
            <a:gdLst/>
            <a:ahLst/>
            <a:cxnLst/>
            <a:rect r="r" b="b" t="t" l="l"/>
            <a:pathLst>
              <a:path h="8907678" w="17860006">
                <a:moveTo>
                  <a:pt x="0" y="0"/>
                </a:moveTo>
                <a:lnTo>
                  <a:pt x="17860006" y="0"/>
                </a:lnTo>
                <a:lnTo>
                  <a:pt x="17860006" y="8907678"/>
                </a:lnTo>
                <a:lnTo>
                  <a:pt x="0" y="8907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62503"/>
            <a:ext cx="16230600" cy="623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8"/>
              </a:lnSpc>
            </a:pPr>
            <a:r>
              <a:rPr lang="en-US" b="true" sz="3584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DIAGRAMA DE BASE DE DATOS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3D98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2500" y="2710359"/>
            <a:ext cx="15703001" cy="6547941"/>
            <a:chOff x="0" y="0"/>
            <a:chExt cx="2935094" cy="12238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35094" cy="1223895"/>
            </a:xfrm>
            <a:custGeom>
              <a:avLst/>
              <a:gdLst/>
              <a:ahLst/>
              <a:cxnLst/>
              <a:rect r="r" b="b" t="t" l="l"/>
              <a:pathLst>
                <a:path h="1223895" w="2935094">
                  <a:moveTo>
                    <a:pt x="0" y="0"/>
                  </a:moveTo>
                  <a:lnTo>
                    <a:pt x="2935094" y="0"/>
                  </a:lnTo>
                  <a:lnTo>
                    <a:pt x="2935094" y="1223895"/>
                  </a:lnTo>
                  <a:lnTo>
                    <a:pt x="0" y="1223895"/>
                  </a:lnTo>
                  <a:close/>
                </a:path>
              </a:pathLst>
            </a:custGeom>
            <a:solidFill>
              <a:srgbClr val="D5EB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935094" cy="1290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076325"/>
            <a:ext cx="16230600" cy="98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1"/>
              </a:lnSpc>
            </a:pPr>
            <a:r>
              <a:rPr lang="en-US" b="true" sz="6811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FUNCIONAMIENTO GENERAL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54743" y="2823801"/>
            <a:ext cx="13178514" cy="627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5"/>
              </a:lnSpc>
            </a:pPr>
            <a:r>
              <a:rPr lang="en-US" sz="238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1.- Web Scraping:</a:t>
            </a:r>
          </a:p>
          <a:p>
            <a:pPr algn="l" marL="515885" indent="-257942" lvl="1">
              <a:lnSpc>
                <a:spcPts val="3345"/>
              </a:lnSpc>
              <a:buFont typeface="Arial"/>
              <a:buChar char="•"/>
            </a:pPr>
            <a:r>
              <a:rPr lang="en-US" sz="23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extraen datos actualizados desde sitios web de farmacias (nombre, precio y disponibilidad de medicamentos).</a:t>
            </a:r>
          </a:p>
          <a:p>
            <a:pPr algn="l">
              <a:lnSpc>
                <a:spcPts val="3345"/>
              </a:lnSpc>
            </a:pPr>
          </a:p>
          <a:p>
            <a:pPr algn="l">
              <a:lnSpc>
                <a:spcPts val="3345"/>
              </a:lnSpc>
            </a:pPr>
            <a:r>
              <a:rPr lang="en-US" sz="238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2.-</a:t>
            </a:r>
            <a:r>
              <a:rPr lang="en-US" sz="23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8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Base de Datos:</a:t>
            </a:r>
          </a:p>
          <a:p>
            <a:pPr algn="l" marL="515885" indent="-257942" lvl="1">
              <a:lnSpc>
                <a:spcPts val="3345"/>
              </a:lnSpc>
              <a:buFont typeface="Arial"/>
              <a:buChar char="•"/>
            </a:pPr>
            <a:r>
              <a:rPr lang="en-US" sz="23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información recolectada se almacena en PostgreSQL, organizada y optimizada para consultas rápidas.</a:t>
            </a:r>
          </a:p>
          <a:p>
            <a:pPr algn="l">
              <a:lnSpc>
                <a:spcPts val="3345"/>
              </a:lnSpc>
            </a:pPr>
          </a:p>
          <a:p>
            <a:pPr algn="l">
              <a:lnSpc>
                <a:spcPts val="3345"/>
              </a:lnSpc>
            </a:pPr>
            <a:r>
              <a:rPr lang="en-US" sz="238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3.- </a:t>
            </a:r>
            <a:r>
              <a:rPr lang="en-US" sz="238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Backend (Django):</a:t>
            </a:r>
          </a:p>
          <a:p>
            <a:pPr algn="l" marL="515885" indent="-257942" lvl="1">
              <a:lnSpc>
                <a:spcPts val="3345"/>
              </a:lnSpc>
              <a:buFont typeface="Arial"/>
              <a:buChar char="•"/>
            </a:pPr>
            <a:r>
              <a:rPr lang="en-US" sz="23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Django gestiona la lógica de negocio y las consultas a la base de datos.</a:t>
            </a:r>
          </a:p>
          <a:p>
            <a:pPr algn="l">
              <a:lnSpc>
                <a:spcPts val="3345"/>
              </a:lnSpc>
            </a:pPr>
          </a:p>
          <a:p>
            <a:pPr algn="l">
              <a:lnSpc>
                <a:spcPts val="3345"/>
              </a:lnSpc>
            </a:pPr>
            <a:r>
              <a:rPr lang="en-US" sz="238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4.- </a:t>
            </a:r>
            <a:r>
              <a:rPr lang="en-US" sz="238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Frontend (HTML, CSS, JS):</a:t>
            </a:r>
          </a:p>
          <a:p>
            <a:pPr algn="l" marL="515885" indent="-257942" lvl="1">
              <a:lnSpc>
                <a:spcPts val="3345"/>
              </a:lnSpc>
              <a:buFont typeface="Arial"/>
              <a:buChar char="•"/>
            </a:pPr>
            <a:r>
              <a:rPr lang="en-US" sz="23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Interfaz amigable donde los usuarios pueden buscar medicamentos y comparar precios fácilmente.</a:t>
            </a:r>
          </a:p>
          <a:p>
            <a:pPr algn="l">
              <a:lnSpc>
                <a:spcPts val="334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12651"/>
            <a:ext cx="16230600" cy="1084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8"/>
              </a:lnSpc>
            </a:pPr>
            <a:r>
              <a:rPr lang="en-US" b="true" sz="6284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CARACTERISTICAS PRINCIPALES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32161" y="4254770"/>
            <a:ext cx="14023678" cy="4259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6743" indent="-438371" lvl="1">
              <a:lnSpc>
                <a:spcPts val="5685"/>
              </a:lnSpc>
              <a:buFont typeface="Arial"/>
              <a:buChar char="•"/>
            </a:pPr>
            <a:r>
              <a:rPr lang="en-US" sz="40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Buscador de medicamentos por nombre o laboratorio.</a:t>
            </a:r>
          </a:p>
          <a:p>
            <a:pPr algn="l" marL="876743" indent="-438371" lvl="1">
              <a:lnSpc>
                <a:spcPts val="5685"/>
              </a:lnSpc>
              <a:buFont typeface="Arial"/>
              <a:buChar char="•"/>
            </a:pPr>
            <a:r>
              <a:rPr lang="en-US" sz="40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Comparador de precios entre distintas farmacias.</a:t>
            </a:r>
          </a:p>
          <a:p>
            <a:pPr algn="l" marL="876743" indent="-438371" lvl="1">
              <a:lnSpc>
                <a:spcPts val="5685"/>
              </a:lnSpc>
              <a:buFont typeface="Arial"/>
              <a:buChar char="•"/>
            </a:pPr>
            <a:r>
              <a:rPr lang="en-US" sz="40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Actualización periódica de datos mediante scraping.</a:t>
            </a:r>
          </a:p>
          <a:p>
            <a:pPr algn="l" marL="876743" indent="-438371" lvl="1">
              <a:lnSpc>
                <a:spcPts val="5685"/>
              </a:lnSpc>
              <a:buFont typeface="Arial"/>
              <a:buChar char="•"/>
            </a:pPr>
            <a:r>
              <a:rPr lang="en-US" sz="40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Interfaz simple y responsiva.</a:t>
            </a:r>
          </a:p>
          <a:p>
            <a:pPr algn="l" marL="876743" indent="-438371" lvl="1">
              <a:lnSpc>
                <a:spcPts val="5685"/>
              </a:lnSpc>
              <a:buFont typeface="Arial"/>
              <a:buChar char="•"/>
            </a:pPr>
            <a:r>
              <a:rPr lang="en-US" sz="40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 claros y ordenados.</a:t>
            </a:r>
          </a:p>
          <a:p>
            <a:pPr algn="l">
              <a:lnSpc>
                <a:spcPts val="5685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5900" y="498751"/>
            <a:ext cx="17248671" cy="9289498"/>
            <a:chOff x="0" y="0"/>
            <a:chExt cx="4542860" cy="24466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2860" cy="2446617"/>
            </a:xfrm>
            <a:custGeom>
              <a:avLst/>
              <a:gdLst/>
              <a:ahLst/>
              <a:cxnLst/>
              <a:rect r="r" b="b" t="t" l="l"/>
              <a:pathLst>
                <a:path h="2446617" w="4542860">
                  <a:moveTo>
                    <a:pt x="1795" y="0"/>
                  </a:moveTo>
                  <a:lnTo>
                    <a:pt x="4541065" y="0"/>
                  </a:lnTo>
                  <a:cubicBezTo>
                    <a:pt x="4542056" y="0"/>
                    <a:pt x="4542860" y="804"/>
                    <a:pt x="4542860" y="1795"/>
                  </a:cubicBezTo>
                  <a:lnTo>
                    <a:pt x="4542860" y="2444821"/>
                  </a:lnTo>
                  <a:cubicBezTo>
                    <a:pt x="4542860" y="2445298"/>
                    <a:pt x="4542671" y="2445754"/>
                    <a:pt x="4542334" y="2446091"/>
                  </a:cubicBezTo>
                  <a:cubicBezTo>
                    <a:pt x="4541998" y="2446428"/>
                    <a:pt x="4541541" y="2446617"/>
                    <a:pt x="4541065" y="2446617"/>
                  </a:cubicBezTo>
                  <a:lnTo>
                    <a:pt x="1795" y="2446617"/>
                  </a:lnTo>
                  <a:cubicBezTo>
                    <a:pt x="804" y="2446617"/>
                    <a:pt x="0" y="2445813"/>
                    <a:pt x="0" y="2444821"/>
                  </a:cubicBezTo>
                  <a:lnTo>
                    <a:pt x="0" y="1795"/>
                  </a:lnTo>
                  <a:cubicBezTo>
                    <a:pt x="0" y="804"/>
                    <a:pt x="804" y="0"/>
                    <a:pt x="17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D5EBE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2860" cy="2484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327481" y="1255363"/>
            <a:ext cx="14532162" cy="2587486"/>
            <a:chOff x="0" y="0"/>
            <a:chExt cx="812800" cy="1447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44721"/>
            </a:xfrm>
            <a:custGeom>
              <a:avLst/>
              <a:gdLst/>
              <a:ahLst/>
              <a:cxnLst/>
              <a:rect r="r" b="b" t="t" l="l"/>
              <a:pathLst>
                <a:path h="14472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4721"/>
                  </a:lnTo>
                  <a:lnTo>
                    <a:pt x="0" y="144721"/>
                  </a:lnTo>
                  <a:close/>
                </a:path>
              </a:pathLst>
            </a:custGeom>
            <a:solidFill>
              <a:srgbClr val="D5EBE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192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43065" y="1731425"/>
            <a:ext cx="6761616" cy="82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8"/>
              </a:lnSpc>
            </a:pPr>
            <a:r>
              <a:rPr lang="en-US" b="true" sz="5399">
                <a:solidFill>
                  <a:srgbClr val="000012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CONCLUSIÓN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476841" y="4209728"/>
            <a:ext cx="15334318" cy="4598265"/>
          </a:xfrm>
          <a:custGeom>
            <a:avLst/>
            <a:gdLst/>
            <a:ahLst/>
            <a:cxnLst/>
            <a:rect r="r" b="b" t="t" l="l"/>
            <a:pathLst>
              <a:path h="4598265" w="15334318">
                <a:moveTo>
                  <a:pt x="15334318" y="0"/>
                </a:moveTo>
                <a:lnTo>
                  <a:pt x="0" y="0"/>
                </a:lnTo>
                <a:lnTo>
                  <a:pt x="0" y="4598265"/>
                </a:lnTo>
                <a:lnTo>
                  <a:pt x="15334318" y="4598265"/>
                </a:lnTo>
                <a:lnTo>
                  <a:pt x="15334318" y="0"/>
                </a:lnTo>
                <a:close/>
              </a:path>
            </a:pathLst>
          </a:custGeom>
          <a:blipFill>
            <a:blip r:embed="rId2"/>
            <a:stretch>
              <a:fillRect l="0" t="-61090" r="0" b="-61090"/>
            </a:stretch>
          </a:blipFill>
          <a:ln w="57150" cap="sq">
            <a:solidFill>
              <a:srgbClr val="000012"/>
            </a:solidFill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8601549" y="1622347"/>
            <a:ext cx="8209610" cy="288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5"/>
              </a:lnSpc>
            </a:pPr>
            <a:r>
              <a:rPr lang="en-US" sz="2443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Farmato es una solución tecnológica que combina análisis de datos, automatización y desarrollo web para mejorar la accesibilidad a la información farmacéutica, contribuyendo al bienestar económico y social de las personas.</a:t>
            </a:r>
          </a:p>
          <a:p>
            <a:pPr algn="l">
              <a:lnSpc>
                <a:spcPts val="3835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DAG2WxGiBhI</dc:identifier>
  <dcterms:modified xsi:type="dcterms:W3CDTF">2011-08-01T06:04:30Z</dcterms:modified>
  <cp:revision>1</cp:revision>
  <dc:title>Presentación Proyecto</dc:title>
</cp:coreProperties>
</file>